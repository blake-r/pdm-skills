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perceptual_map_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perceptual_map_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perceptual_map_Microsoft_Excel_Sheet1.xlsx"/></Relationships>
</file>

<file path=ppt/charts/perceptual_map_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Midpoint X</c:v>
                </c:pt>
              </c:strCache>
            </c:strRef>
          </c:tx>
          <c:spPr>
            <a:ln w="15875">
              <a:solidFill>
                <a:srgbClr val="C9CED6"/>
              </a:solidFill>
            </a:ln>
          </c:spPr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5.5</c:v>
                </c:pt>
                <c:pt idx="1">
                  <c:v>5.5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Midpoint Y</c:v>
                </c:pt>
              </c:strCache>
            </c:strRef>
          </c:tx>
          <c:spPr>
            <a:ln w="15875">
              <a:solidFill>
                <a:srgbClr val="C9CED6"/>
              </a:solidFill>
            </a:ln>
          </c:spPr>
          <c:marker>
            <c:symbol val="none"/>
          </c:marker>
          <c:xVal>
            <c:numRef>
              <c:f>Sheet1!$A$6:$A$7</c:f>
              <c:numCache>
                <c:formatCode>General</c:formatCode>
                <c:ptCount val="2"/>
                <c:pt idx="0">
                  <c:v>1</c:v>
                </c:pt>
                <c:pt idx="1">
                  <c:v>10</c:v>
                </c:pt>
              </c:numCache>
            </c:numRef>
          </c:xVal>
          <c:yVal>
            <c:numRef>
              <c:f>Sheet1!$B$6:$B$7</c:f>
              <c:numCache>
                <c:formatCode>General</c:formatCode>
                <c:ptCount val="2"/>
                <c:pt idx="0">
                  <c:v>5.5</c:v>
                </c:pt>
                <c:pt idx="1">
                  <c:v>5.5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Sheet1!$B$9</c:f>
              <c:strCache>
                <c:ptCount val="1"/>
                <c:pt idx="0">
                  <c:v>Brand 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22"/>
            <c:spPr>
              <a:solidFill>
                <a:srgbClr val="2F6FDE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100">
                    <a:solidFill>
                      <a:srgbClr val="262B33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Sheet1!$A$10:$A$10</c:f>
              <c:numCache>
                <c:formatCode>General</c:formatCode>
                <c:ptCount val="1"/>
                <c:pt idx="0">
                  <c:v>7.5</c:v>
                </c:pt>
              </c:numCache>
            </c:numRef>
          </c:xVal>
          <c:yVal>
            <c:numRef>
              <c:f>Sheet1!$B$10:$B$10</c:f>
              <c:numCache>
                <c:formatCode>General</c:formatCode>
                <c:ptCount val="1"/>
                <c:pt idx="0">
                  <c:v>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Sheet1!$B$12</c:f>
              <c:strCache>
                <c:ptCount val="1"/>
                <c:pt idx="0">
                  <c:v>Brand B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22"/>
            <c:spPr>
              <a:solidFill>
                <a:srgbClr val="2F6FDE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100">
                    <a:solidFill>
                      <a:srgbClr val="262B33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Sheet1!$A$13:$A$13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Sheet1!$B$13:$B$13</c:f>
              <c:numCache>
                <c:formatCode>General</c:formatCode>
                <c:ptCount val="1"/>
                <c:pt idx="0">
                  <c:v>7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Sheet1!$B$15</c:f>
              <c:strCache>
                <c:ptCount val="1"/>
                <c:pt idx="0">
                  <c:v>Brand C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22"/>
            <c:spPr>
              <a:solidFill>
                <a:srgbClr val="2F6FDE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100">
                    <a:solidFill>
                      <a:srgbClr val="262B33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Sheet1!$A$16:$A$16</c:f>
              <c:numCache>
                <c:formatCode>General</c:formatCode>
                <c:ptCount val="1"/>
                <c:pt idx="0">
                  <c:v>4</c:v>
                </c:pt>
              </c:numCache>
            </c:numRef>
          </c:xVal>
          <c:yVal>
            <c:numRef>
              <c:f>Sheet1!$B$16:$B$16</c:f>
              <c:numCache>
                <c:formatCode>General</c:formatCode>
                <c:ptCount val="1"/>
                <c:pt idx="0">
                  <c:v>3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Sheet1!$B$18</c:f>
              <c:strCache>
                <c:ptCount val="1"/>
                <c:pt idx="0">
                  <c:v>Our product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22"/>
            <c:spPr>
              <a:solidFill>
                <a:srgbClr val="2F6FDE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100">
                    <a:solidFill>
                      <a:srgbClr val="262B33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Sheet1!$A$19:$A$19</c:f>
              <c:numCache>
                <c:formatCode>General</c:formatCode>
                <c:ptCount val="1"/>
                <c:pt idx="0">
                  <c:v>6.5</c:v>
                </c:pt>
              </c:numCache>
            </c:numRef>
          </c:xVal>
          <c:yVal>
            <c:numRef>
              <c:f>Sheet1!$B$19:$B$19</c:f>
              <c:numCache>
                <c:formatCode>General</c:formatCode>
                <c:ptCount val="1"/>
                <c:pt idx="0">
                  <c:v>4</c:v>
                </c:pt>
              </c:numCache>
            </c:numRef>
          </c:yVal>
          <c:smooth val="0"/>
        </c:ser>
        <c:axId val="500000"/>
        <c:axId val="500001"/>
      </c:scatterChart>
      <c:valAx>
        <c:axId val="500000"/>
        <c:scaling>
          <c:orientation val="minMax"/>
          <c:max val="10.0"/>
          <c:min val="1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500001"/>
        <c:crosses val="autoZero"/>
        <c:crossBetween val="midCat"/>
        <c:majorUnit val="1.0"/>
      </c:valAx>
      <c:valAx>
        <c:axId val="500001"/>
        <c:scaling>
          <c:orientation val="minMax"/>
          <c:max val="10.0"/>
          <c:min val="1.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500000"/>
        <c:crosses val="autoZero"/>
        <c:crossBetween val="midCat"/>
        <c:majorUnit val="1.0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262B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perceptual_map_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PERCEPTUAL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market, who was asked, when}}</a:t>
            </a:r>
          </a:p>
        </p:txBody>
      </p:sp>
      <p:graphicFrame>
        <p:nvGraphicFramePr>
          <p:cNvPr id="4" name="map"/>
          <p:cNvGraphicFramePr>
            <a:graphicFrameLocks noGrp="1"/>
          </p:cNvGraphicFramePr>
          <p:nvPr/>
        </p:nvGraphicFramePr>
        <p:xfrm>
          <a:off x="822960" y="1188720"/>
          <a:ext cx="722376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6190488"/>
            <a:ext cx="7223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{{x_axis: horizontal axis: from what to what}}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457200" cy="4983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vert="vert270"/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{{y_axis: vertical axis: from what to what}}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1143000"/>
            <a:ext cx="3291840" cy="338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1481328"/>
            <a:ext cx="3291840" cy="89611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{{scope: data source, sample and circle size}}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2468880"/>
            <a:ext cx="3291840" cy="338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Open position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2807208"/>
            <a:ext cx="3291840" cy="94183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{{gap: empty position and whether buyers need it}}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3840480"/>
            <a:ext cx="3291840" cy="338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4178808"/>
            <a:ext cx="3291840" cy="94183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where we move the product and how}}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5212080"/>
            <a:ext cx="3291840" cy="338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5550408"/>
            <a:ext cx="3291840" cy="94183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{{result: result with dates and checks}}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