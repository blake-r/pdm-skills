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4712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F6FDE"/>
                </a:solidFill>
                <a:latin typeface="Arial"/>
              </a:rPr>
              <a:t>DIARY STUDY · DIARY STUDY LOG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124712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2200" b="1">
                <a:solidFill>
                  <a:srgbClr val="262B33"/>
                </a:solidFill>
                <a:latin typeface="Arial"/>
              </a:rPr>
              <a:t>{{title: who ran the study, whom, where, year}}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3657600" cy="292608"/>
          </a:xfrm>
          <a:prstGeom prst="rect">
            <a:avLst/>
          </a:prstGeom>
          <a:solidFill>
            <a:srgbClr val="2F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Research question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35608"/>
            <a:ext cx="3657600" cy="73152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{{question: what we want to learn about behavior}}</a:t>
            </a:r>
          </a:p>
        </p:txBody>
      </p:sp>
      <p:sp>
        <p:nvSpPr>
          <p:cNvPr id="6" name="Rectangle 5"/>
          <p:cNvSpPr/>
          <p:nvPr/>
        </p:nvSpPr>
        <p:spPr>
          <a:xfrm>
            <a:off x="4265676" y="1143000"/>
            <a:ext cx="3657600" cy="292608"/>
          </a:xfrm>
          <a:prstGeom prst="rect">
            <a:avLst/>
          </a:prstGeom>
          <a:solidFill>
            <a:srgbClr val="2F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Participants and duration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265676" y="1435608"/>
            <a:ext cx="3657600" cy="73152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{{sample: people, group, days, dropout}}</a:t>
            </a:r>
          </a:p>
        </p:txBody>
      </p:sp>
      <p:sp>
        <p:nvSpPr>
          <p:cNvPr id="8" name="Rectangle 7"/>
          <p:cNvSpPr/>
          <p:nvPr/>
        </p:nvSpPr>
        <p:spPr>
          <a:xfrm>
            <a:off x="8074152" y="1143000"/>
            <a:ext cx="3657600" cy="292608"/>
          </a:xfrm>
          <a:prstGeom prst="rect">
            <a:avLst/>
          </a:prstGeom>
          <a:solidFill>
            <a:srgbClr val="2F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Entry: type and medium</a:t>
            </a:r>
          </a:p>
        </p:txBody>
      </p:sp>
      <p:sp>
        <p:nvSpPr>
          <p:cNvPr id="9" name="Rectangle 8"/>
          <p:cNvSpPr/>
          <p:nvPr/>
        </p:nvSpPr>
        <p:spPr>
          <a:xfrm>
            <a:off x="8074152" y="1435608"/>
            <a:ext cx="3657600" cy="73152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{{entry: entry type and medium}}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286000"/>
            <a:ext cx="3840480" cy="292608"/>
          </a:xfrm>
          <a:prstGeom prst="rect">
            <a:avLst/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Entry: what they did (day, time)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578608"/>
            <a:ext cx="3840480" cy="658368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{{a1: action, place, method; verbatim or 'not in the source'}}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236976"/>
            <a:ext cx="3840480" cy="658368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{{a2: action, place, method; verbatim or 'not in the source'}}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895344"/>
            <a:ext cx="3840480" cy="658368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{{a3: action, place, method; verbatim or 'not in the source'}}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34840" y="2286000"/>
            <a:ext cx="3291840" cy="292608"/>
          </a:xfrm>
          <a:prstGeom prst="rect">
            <a:avLst/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Entry: what they thought and felt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34840" y="2578608"/>
            <a:ext cx="3291840" cy="658368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{{t1: participant's words or 'not in the source'}}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34840" y="3236976"/>
            <a:ext cx="3291840" cy="658368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{{t2: participant's words or 'not in the source'}}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34840" y="3895344"/>
            <a:ext cx="3291840" cy="658368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{{t3: participant's words or 'not in the source'}}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63840" y="2286000"/>
            <a:ext cx="3840480" cy="292608"/>
          </a:xfrm>
          <a:prstGeom prst="rect">
            <a:avLst/>
          </a:prstGeom>
          <a:solidFill>
            <a:srgbClr val="C6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Researcher's conclusion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63840" y="2578608"/>
            <a:ext cx="3840480" cy="658368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{{c1: what this means, in the researcher's view}}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63840" y="3236976"/>
            <a:ext cx="3840480" cy="658368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{{c2: what this means, in the researcher's view}}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63840" y="3895344"/>
            <a:ext cx="3840480" cy="658368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{{c3: what this means, in the researcher's view}}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663440"/>
            <a:ext cx="3657600" cy="292608"/>
          </a:xfrm>
          <a:prstGeom prst="rect">
            <a:avLst/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Closing interview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956048"/>
            <a:ext cx="3657600" cy="164592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0">
                <a:solidFill>
                  <a:srgbClr val="262B33"/>
                </a:solidFill>
                <a:latin typeface="Arial"/>
              </a:rPr>
              <a:t>{{interview: what was clarified in the interview}}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5676" y="4663440"/>
            <a:ext cx="3657600" cy="292608"/>
          </a:xfrm>
          <a:prstGeom prst="rect">
            <a:avLst/>
          </a:prstGeom>
          <a:solidFill>
            <a:srgbClr val="C6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Data gaps and risks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65676" y="4956048"/>
            <a:ext cx="3657600" cy="1645920"/>
          </a:xfrm>
          <a:prstGeom prst="rect">
            <a:avLst/>
          </a:prstGeom>
          <a:solidFill>
            <a:srgbClr val="FBEAEA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0">
                <a:solidFill>
                  <a:srgbClr val="262B33"/>
                </a:solidFill>
                <a:latin typeface="Arial"/>
              </a:rPr>
              <a:t>{{gaps: dropout, missing entries, distortions}}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74152" y="4663440"/>
            <a:ext cx="3657600" cy="292608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Decision and check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74152" y="4956048"/>
            <a:ext cx="3657600" cy="1645920"/>
          </a:xfrm>
          <a:prstGeom prst="rect">
            <a:avLst/>
          </a:prstGeom>
          <a:solidFill>
            <a:srgbClr val="E8F5EC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0">
                <a:solidFill>
                  <a:srgbClr val="262B33"/>
                </a:solidFill>
                <a:latin typeface="Arial"/>
              </a:rPr>
              <a:t>{{decision: what we change and how we check it}}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