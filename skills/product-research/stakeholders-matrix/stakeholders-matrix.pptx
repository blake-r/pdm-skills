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4712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F6FDE"/>
                </a:solidFill>
                <a:latin typeface="Arial"/>
              </a:rPr>
              <a:t>STAKEHOLDERS MATRIX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1124712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2200" b="1">
                <a:solidFill>
                  <a:srgbClr val="262B33"/>
                </a:solidFill>
                <a:latin typeface="Arial"/>
              </a:rPr>
              <a:t>{{title: product, project or decision, date}}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1234440"/>
            <a:ext cx="361188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0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{{keep_satisfied: role and influence on the product}}</a:t>
            </a:r>
          </a:p>
        </p:txBody>
      </p:sp>
      <p:sp>
        <p:nvSpPr>
          <p:cNvPr id="5" name="Rectangle 4"/>
          <p:cNvSpPr/>
          <p:nvPr/>
        </p:nvSpPr>
        <p:spPr>
          <a:xfrm>
            <a:off x="923544" y="1280160"/>
            <a:ext cx="3502152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1">
                <a:solidFill>
                  <a:srgbClr val="262B33"/>
                </a:solidFill>
                <a:latin typeface="Arial"/>
              </a:rPr>
              <a:t>Keep satisfied</a:t>
            </a:r>
          </a:p>
        </p:txBody>
      </p:sp>
      <p:sp>
        <p:nvSpPr>
          <p:cNvPr id="6" name="Rectangle 5"/>
          <p:cNvSpPr/>
          <p:nvPr/>
        </p:nvSpPr>
        <p:spPr>
          <a:xfrm>
            <a:off x="4480560" y="1234440"/>
            <a:ext cx="3611880" cy="2514600"/>
          </a:xfrm>
          <a:prstGeom prst="rect">
            <a:avLst/>
          </a:prstGeom>
          <a:solidFill>
            <a:srgbClr val="E8F0FC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0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{{manage_closely: role and involvement in the pilot}}</a:t>
            </a:r>
          </a:p>
        </p:txBody>
      </p:sp>
      <p:sp>
        <p:nvSpPr>
          <p:cNvPr id="7" name="Rectangle 6"/>
          <p:cNvSpPr/>
          <p:nvPr/>
        </p:nvSpPr>
        <p:spPr>
          <a:xfrm>
            <a:off x="4535424" y="1280160"/>
            <a:ext cx="3502152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1">
                <a:solidFill>
                  <a:srgbClr val="2F6FDE"/>
                </a:solidFill>
                <a:latin typeface="Arial"/>
              </a:rPr>
              <a:t>Manage closely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3749039"/>
            <a:ext cx="361188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0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{{monitor: role, influence and impact}}</a:t>
            </a:r>
          </a:p>
        </p:txBody>
      </p:sp>
      <p:sp>
        <p:nvSpPr>
          <p:cNvPr id="9" name="Rectangle 8"/>
          <p:cNvSpPr/>
          <p:nvPr/>
        </p:nvSpPr>
        <p:spPr>
          <a:xfrm>
            <a:off x="923544" y="3794759"/>
            <a:ext cx="3502152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1">
                <a:solidFill>
                  <a:srgbClr val="262B33"/>
                </a:solidFill>
                <a:latin typeface="Arial"/>
              </a:rPr>
              <a:t>Monitor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60" y="3749039"/>
            <a:ext cx="361188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0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{{keep_informed: role and what changes for them}}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35424" y="3794759"/>
            <a:ext cx="3502152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1">
                <a:solidFill>
                  <a:srgbClr val="262B33"/>
                </a:solidFill>
                <a:latin typeface="Arial"/>
              </a:rPr>
              <a:t>Keep informed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" y="1234440"/>
            <a:ext cx="320040" cy="5029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 vert="vert270" lIns="0" rIns="0"/>
          <a:lstStyle/>
          <a:p>
            <a:pPr algn="ctr"/>
            <a:r>
              <a:rPr sz="1000" b="0">
                <a:solidFill>
                  <a:srgbClr val="6B7280"/>
                </a:solidFill>
                <a:latin typeface="Arial"/>
              </a:rPr>
              <a:t>Stakeholder's influence on the product 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234440"/>
            <a:ext cx="50292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r"/>
            <a:r>
              <a:rPr sz="900" b="0">
                <a:solidFill>
                  <a:srgbClr val="6B7280"/>
                </a:solidFill>
                <a:latin typeface="Arial"/>
              </a:rPr>
              <a:t>high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5989320"/>
            <a:ext cx="50292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r"/>
            <a:r>
              <a:rPr sz="900" b="0">
                <a:solidFill>
                  <a:srgbClr val="6B7280"/>
                </a:solidFill>
                <a:latin typeface="Arial"/>
              </a:rPr>
              <a:t>low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" y="6291072"/>
            <a:ext cx="722376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ctr"/>
            <a:r>
              <a:rPr sz="1000" b="0">
                <a:solidFill>
                  <a:srgbClr val="6B7280"/>
                </a:solidFill>
                <a:latin typeface="Arial"/>
              </a:rPr>
              <a:t>Product's impact on the stakeholder 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" y="6291072"/>
            <a:ext cx="73152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low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60919" y="6291072"/>
            <a:ext cx="73152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r"/>
            <a:r>
              <a:rPr sz="900" b="0">
                <a:solidFill>
                  <a:srgbClr val="6B7280"/>
                </a:solidFill>
                <a:latin typeface="Arial"/>
              </a:rPr>
              <a:t>high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0" y="1170432"/>
            <a:ext cx="3319272" cy="3383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62B33"/>
                </a:solidFill>
                <a:latin typeface="Arial"/>
              </a:rPr>
              <a:t>Decision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12480" y="1508760"/>
            <a:ext cx="3319272" cy="205740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{{decision: who decides and who signs off}}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12480" y="3867912"/>
            <a:ext cx="3319272" cy="3383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62B33"/>
                </a:solidFill>
                <a:latin typeface="Arial"/>
              </a:rPr>
              <a:t>Result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12480" y="4206240"/>
            <a:ext cx="3319272" cy="205740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{{result: result with dates and checks}}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