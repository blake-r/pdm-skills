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OPPORTUNITY SOLUTION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team and the outcome the tree serves}}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46304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Outcome</a:t>
            </a:r>
          </a:p>
          <a:p>
            <a:r>
              <a:rPr sz="900">
                <a:solidFill>
                  <a:srgbClr val="6B7280"/>
                </a:solidFill>
                <a:latin typeface="Arial"/>
              </a:rPr>
              <a:t>one per 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83380" y="1188720"/>
            <a:ext cx="5486400" cy="73152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262B33"/>
                </a:solidFill>
                <a:latin typeface="Arial"/>
              </a:rPr>
              <a:t>{{outcome: the one outcome the team is asked to move}}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146304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Opportunities</a:t>
            </a:r>
          </a:p>
          <a:p>
            <a:r>
              <a:rPr sz="900">
                <a:solidFill>
                  <a:srgbClr val="6B7280"/>
                </a:solidFill>
                <a:latin typeface="Arial"/>
              </a:rPr>
              <a:t>customer needs, pain points, desires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497580" y="1920240"/>
            <a:ext cx="3429000" cy="41148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965960" y="2331720"/>
            <a:ext cx="3063240" cy="9144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0">
                <a:solidFill>
                  <a:srgbClr val="262B33"/>
                </a:solidFill>
                <a:latin typeface="Arial"/>
              </a:rPr>
              <a:t>{{opp1: an unmet customer need in the customer's words}}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26580" y="1920240"/>
            <a:ext cx="0" cy="41148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394960" y="2331720"/>
            <a:ext cx="3063240" cy="91440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262B33"/>
                </a:solidFill>
                <a:latin typeface="Arial"/>
              </a:rPr>
              <a:t>{{target: the target opportunity, in the customer's words}}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26580" y="1920240"/>
            <a:ext cx="3429000" cy="41148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823960" y="2331720"/>
            <a:ext cx="3063240" cy="9144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0">
                <a:solidFill>
                  <a:srgbClr val="262B33"/>
                </a:solidFill>
                <a:latin typeface="Arial"/>
              </a:rPr>
              <a:t>{{opp3: another unmet customer need in the customer's words}}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3246120"/>
            <a:ext cx="30632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900" b="0">
                <a:solidFill>
                  <a:srgbClr val="2F6FDE"/>
                </a:solidFill>
                <a:latin typeface="Arial"/>
              </a:rPr>
              <a:t>target opportunity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146304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Solutions</a:t>
            </a:r>
          </a:p>
          <a:p>
            <a:r>
              <a:rPr sz="900">
                <a:solidFill>
                  <a:srgbClr val="6B7280"/>
                </a:solidFill>
                <a:latin typeface="Arial"/>
              </a:rPr>
              <a:t>for the target only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497580" y="3520439"/>
            <a:ext cx="3429000" cy="137161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965960" y="3657600"/>
            <a:ext cx="3063240" cy="9144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0">
                <a:solidFill>
                  <a:srgbClr val="262B33"/>
                </a:solidFill>
                <a:latin typeface="Arial"/>
              </a:rPr>
              <a:t>{{sol1: a solution for the target opportunity}}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26580" y="3520439"/>
            <a:ext cx="0" cy="137161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394960" y="3657600"/>
            <a:ext cx="3063240" cy="9144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0">
                <a:solidFill>
                  <a:srgbClr val="262B33"/>
                </a:solidFill>
                <a:latin typeface="Arial"/>
              </a:rPr>
              <a:t>{{sol2: a solution for the target opportunity}}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26580" y="3520439"/>
            <a:ext cx="3429000" cy="137161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823960" y="3657600"/>
            <a:ext cx="3063240" cy="9144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0">
                <a:solidFill>
                  <a:srgbClr val="262B33"/>
                </a:solidFill>
                <a:latin typeface="Arial"/>
              </a:rPr>
              <a:t>{{sol3: a solution for the target opportunity}}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46320"/>
            <a:ext cx="146304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Assumption tests</a:t>
            </a:r>
          </a:p>
          <a:p>
            <a:r>
              <a:rPr sz="900">
                <a:solidFill>
                  <a:srgbClr val="6B7280"/>
                </a:solidFill>
                <a:latin typeface="Arial"/>
              </a:rPr>
              <a:t>riskiest assumption of each solution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97580" y="4572000"/>
            <a:ext cx="0" cy="27432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965960" y="4846320"/>
            <a:ext cx="3063240" cy="10515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{{test1: the riskiest assumption, the test and its result}}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26580" y="4572000"/>
            <a:ext cx="0" cy="27432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394960" y="4846320"/>
            <a:ext cx="3063240" cy="10515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{{test2: the riskiest assumption, the test and its result}}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355580" y="4572000"/>
            <a:ext cx="0" cy="27432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823960" y="4846320"/>
            <a:ext cx="3063240" cy="10515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{{test3: the riskiest assumption, the test and its result}}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035040"/>
            <a:ext cx="14630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Decision</a:t>
            </a:r>
          </a:p>
          <a:p>
            <a:r>
              <a:rPr sz="90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1965960" y="6035040"/>
            <a:ext cx="9921240" cy="548640"/>
          </a:xfrm>
          <a:prstGeom prst="rect">
            <a:avLst/>
          </a:prstGeom>
          <a:solidFill>
            <a:srgbClr val="E8F5EC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{{decision: what the team keeps, drops or targets next}}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