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VALUE PROPOSITION CANVAS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product and customer segment}}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200" b="1">
                <a:solidFill>
                  <a:srgbClr val="2F6FDE"/>
                </a:solidFill>
                <a:latin typeface="Arial"/>
              </a:rPr>
              <a:t>Value proposition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3931920" cy="3931920"/>
          </a:xfrm>
          <a:prstGeom prst="rect">
            <a:avLst/>
          </a:prstGeom>
          <a:noFill/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783080" y="1600200"/>
            <a:ext cx="0" cy="3931920"/>
          </a:xfrm>
          <a:prstGeom prst="line">
            <a:avLst/>
          </a:prstGeom>
          <a:ln w="15875">
            <a:solidFill>
              <a:srgbClr val="2F6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783080" y="3566160"/>
            <a:ext cx="2606040" cy="0"/>
          </a:xfrm>
          <a:prstGeom prst="line">
            <a:avLst/>
          </a:prstGeom>
          <a:ln w="15875">
            <a:solidFill>
              <a:srgbClr val="2F6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02920" y="1673352"/>
            <a:ext cx="123444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Products and services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76272"/>
            <a:ext cx="1234440" cy="329183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{{products: what we offer, products and services}}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1673352"/>
            <a:ext cx="251460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E8B57"/>
                </a:solidFill>
                <a:latin typeface="Arial"/>
              </a:rPr>
              <a:t>+ Gain creators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1965960"/>
            <a:ext cx="2514600" cy="156362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{{gain_creators: how the product delivers the gains}}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3621024"/>
            <a:ext cx="251460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C63D3D"/>
                </a:solidFill>
                <a:latin typeface="Arial"/>
              </a:rPr>
              <a:t>− Pain relievers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3913632"/>
            <a:ext cx="2514600" cy="156362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{{pain_relievers: how the product removes the pains}}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188720"/>
            <a:ext cx="39319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200" b="1">
                <a:solidFill>
                  <a:srgbClr val="262B33"/>
                </a:solidFill>
                <a:latin typeface="Arial"/>
              </a:rPr>
              <a:t>Customer segment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0" y="1600200"/>
            <a:ext cx="3931920" cy="3931920"/>
          </a:xfrm>
          <a:prstGeom prst="ellipse">
            <a:avLst/>
          </a:prstGeom>
          <a:noFill/>
          <a:ln w="12700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7466990" y="1618488"/>
            <a:ext cx="0" cy="3895344"/>
          </a:xfrm>
          <a:prstGeom prst="line">
            <a:avLst/>
          </a:prstGeom>
          <a:ln w="1587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047488" y="3566160"/>
            <a:ext cx="2419502" cy="0"/>
          </a:xfrm>
          <a:prstGeom prst="line">
            <a:avLst/>
          </a:prstGeom>
          <a:ln w="1587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532120" y="2011680"/>
            <a:ext cx="188915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100" b="1">
                <a:solidFill>
                  <a:srgbClr val="2E8B57"/>
                </a:solidFill>
                <a:latin typeface="Arial"/>
              </a:rPr>
              <a:t>+ Gains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2304288"/>
            <a:ext cx="1889150" cy="121615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{{gains: what the customer wants to achieve}}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32120" y="3621024"/>
            <a:ext cx="188915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100" b="1">
                <a:solidFill>
                  <a:srgbClr val="C63D3D"/>
                </a:solidFill>
                <a:latin typeface="Arial"/>
              </a:rPr>
              <a:t>− Pains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32120" y="3913632"/>
            <a:ext cx="1889150" cy="121615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{{pains: what gets in the way and annoys}}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2710" y="2606040"/>
            <a:ext cx="1265529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100" b="1">
                <a:solidFill>
                  <a:srgbClr val="262B33"/>
                </a:solidFill>
                <a:latin typeface="Arial"/>
              </a:rPr>
              <a:t>Jobs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12710" y="2898648"/>
            <a:ext cx="1265529" cy="162763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Aft>
                <a:spcPts val="3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{{jobs: what the customer is trying to do}}</a:t>
            </a:r>
          </a:p>
        </p:txBody>
      </p:sp>
      <p:sp>
        <p:nvSpPr>
          <p:cNvPr id="24" name="Left-Right Arrow 23"/>
          <p:cNvSpPr/>
          <p:nvPr/>
        </p:nvSpPr>
        <p:spPr>
          <a:xfrm>
            <a:off x="4462272" y="3337560"/>
            <a:ext cx="493776" cy="457200"/>
          </a:xfrm>
          <a:prstGeom prst="leftRightArrow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623559"/>
            <a:ext cx="8503919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{{segment: who the customer is, data source and date}}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1188720"/>
            <a:ext cx="25146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Fit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1508760"/>
            <a:ext cx="2514600" cy="2011679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{{fit: pains and gains covered, and not covered}}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35440" y="3657600"/>
            <a:ext cx="25146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Decision and check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35440" y="3977639"/>
            <a:ext cx="2514600" cy="2011679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{{decision: what we do, skip and check}}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