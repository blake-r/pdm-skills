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274320"/>
            <a:ext cx="11247120" cy="32004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tIns="54864" bIns="54864"/>
          <a:lstStyle/>
          <a:p>
            <a:pPr algn="l"/>
            <a:r>
              <a:rPr sz="1200" b="1">
                <a:solidFill>
                  <a:srgbClr val="2F6FDE"/>
                </a:solidFill>
                <a:latin typeface="Arial"/>
              </a:rPr>
              <a:t>TRIZ · RESOLVING A CONTRADICTION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548640"/>
            <a:ext cx="11247120" cy="50292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tIns="54864" bIns="54864"/>
          <a:lstStyle/>
          <a:p>
            <a:pPr algn="l"/>
            <a:r>
              <a:rPr sz="2200" b="1">
                <a:solidFill>
                  <a:srgbClr val="262B33"/>
                </a:solidFill>
                <a:latin typeface="Arial"/>
              </a:rPr>
              <a:t>{{title: the problem in one phrase}}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188720"/>
            <a:ext cx="8412480" cy="32004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tIns="54864" bIns="54864"/>
          <a:lstStyle/>
          <a:p>
            <a:pPr algn="l"/>
            <a:r>
              <a:rPr sz="1200" b="1">
                <a:solidFill>
                  <a:srgbClr val="262B33"/>
                </a:solidFill>
                <a:latin typeface="Arial"/>
              </a:rPr>
              <a:t>Contradiction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554480"/>
            <a:ext cx="8412480" cy="685800"/>
          </a:xfrm>
          <a:prstGeom prst="rect">
            <a:avLst/>
          </a:prstGeom>
          <a:solidFill>
            <a:srgbClr val="E8F0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54864" bIns="54864"/>
          <a:lstStyle/>
          <a:p>
            <a:pPr algn="l"/>
            <a:r>
              <a:rPr sz="1200" b="1">
                <a:solidFill>
                  <a:srgbClr val="262B33"/>
                </a:solidFill>
                <a:latin typeface="Arial"/>
              </a:rPr>
              <a:t>{{element: element or parameter in dispute}}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2377440"/>
            <a:ext cx="4114800" cy="27432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tIns="54864" bIns="54864"/>
          <a:lstStyle/>
          <a:p>
            <a:pPr algn="l"/>
            <a:r>
              <a:rPr sz="1100" b="1">
                <a:solidFill>
                  <a:srgbClr val="2E8B57"/>
                </a:solidFill>
                <a:latin typeface="Arial"/>
              </a:rPr>
              <a:t>It must be A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2651760"/>
            <a:ext cx="4114800" cy="1005840"/>
          </a:xfrm>
          <a:prstGeom prst="rect">
            <a:avLst/>
          </a:prstGeom>
          <a:solidFill>
            <a:srgbClr val="E8F5EC"/>
          </a:solidFill>
          <a:ln w="12700">
            <a:solidFill>
              <a:srgbClr val="2E8B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tIns="54864" bIns="54864"/>
          <a:lstStyle/>
          <a:p>
            <a:pPr algn="l">
              <a:spcAft>
                <a:spcPts val="200"/>
              </a:spcAft>
            </a:pPr>
            <a:r>
              <a:rPr sz="1000" b="0">
                <a:solidFill>
                  <a:srgbClr val="262B33"/>
                </a:solidFill>
                <a:latin typeface="Arial"/>
              </a:rPr>
              <a:t>{{need_a: what it must be, with its benefit}}</a:t>
            </a:r>
          </a:p>
        </p:txBody>
      </p:sp>
      <p:sp>
        <p:nvSpPr>
          <p:cNvPr id="8" name="Rectangle 7"/>
          <p:cNvSpPr/>
          <p:nvPr/>
        </p:nvSpPr>
        <p:spPr>
          <a:xfrm>
            <a:off x="4754880" y="2377440"/>
            <a:ext cx="4114800" cy="27432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tIns="54864" bIns="54864"/>
          <a:lstStyle/>
          <a:p>
            <a:pPr algn="l"/>
            <a:r>
              <a:rPr sz="1100" b="1">
                <a:solidFill>
                  <a:srgbClr val="C63D3D"/>
                </a:solidFill>
                <a:latin typeface="Arial"/>
              </a:rPr>
              <a:t>It must be not-A</a:t>
            </a:r>
          </a:p>
        </p:txBody>
      </p:sp>
      <p:sp>
        <p:nvSpPr>
          <p:cNvPr id="9" name="Rectangle 8"/>
          <p:cNvSpPr/>
          <p:nvPr/>
        </p:nvSpPr>
        <p:spPr>
          <a:xfrm>
            <a:off x="4754880" y="2651760"/>
            <a:ext cx="4114800" cy="1005840"/>
          </a:xfrm>
          <a:prstGeom prst="rect">
            <a:avLst/>
          </a:prstGeom>
          <a:solidFill>
            <a:srgbClr val="FBEAEA"/>
          </a:solidFill>
          <a:ln w="12700">
            <a:solidFill>
              <a:srgbClr val="C63D3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tIns="54864" bIns="54864"/>
          <a:lstStyle/>
          <a:p>
            <a:pPr algn="l">
              <a:spcAft>
                <a:spcPts val="200"/>
              </a:spcAft>
            </a:pPr>
            <a:r>
              <a:rPr sz="1000" b="0">
                <a:solidFill>
                  <a:srgbClr val="262B33"/>
                </a:solidFill>
                <a:latin typeface="Arial"/>
              </a:rPr>
              <a:t>{{need_not_a: what it must be, with its benefit}}</a:t>
            </a:r>
          </a:p>
        </p:txBody>
      </p:sp>
      <p:sp>
        <p:nvSpPr>
          <p:cNvPr id="10" name="Rectangle 9"/>
          <p:cNvSpPr/>
          <p:nvPr/>
        </p:nvSpPr>
        <p:spPr>
          <a:xfrm>
            <a:off x="457200" y="3840480"/>
            <a:ext cx="2682240" cy="27432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tIns="54864" bIns="54864"/>
          <a:lstStyle/>
          <a:p>
            <a:pPr algn="l"/>
            <a:r>
              <a:rPr sz="1100" b="1">
                <a:solidFill>
                  <a:srgbClr val="262B33"/>
                </a:solidFill>
                <a:latin typeface="Arial"/>
              </a:rPr>
              <a:t>Ideal final result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57200" y="4114800"/>
            <a:ext cx="2682240" cy="1463040"/>
          </a:xfrm>
          <a:prstGeom prst="rect">
            <a:avLst/>
          </a:prstGeom>
          <a:noFill/>
          <a:ln w="12700">
            <a:solidFill>
              <a:srgbClr val="C9CED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tIns="54864" bIns="54864"/>
          <a:lstStyle/>
          <a:p>
            <a:pPr algn="l">
              <a:spcAft>
                <a:spcPts val="200"/>
              </a:spcAft>
            </a:pPr>
            <a:r>
              <a:rPr sz="1000" b="0">
                <a:solidFill>
                  <a:srgbClr val="262B33"/>
                </a:solidFill>
                <a:latin typeface="Arial"/>
              </a:rPr>
              <a:t>{{ikr: the ideal result, with no harm or cost}}</a:t>
            </a:r>
          </a:p>
        </p:txBody>
      </p:sp>
      <p:sp>
        <p:nvSpPr>
          <p:cNvPr id="12" name="Rectangle 11"/>
          <p:cNvSpPr/>
          <p:nvPr/>
        </p:nvSpPr>
        <p:spPr>
          <a:xfrm>
            <a:off x="3322320" y="3840480"/>
            <a:ext cx="2682240" cy="27432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tIns="54864" bIns="54864"/>
          <a:lstStyle/>
          <a:p>
            <a:pPr algn="l"/>
            <a:r>
              <a:rPr sz="1100" b="1">
                <a:solidFill>
                  <a:srgbClr val="262B33"/>
                </a:solidFill>
                <a:latin typeface="Arial"/>
              </a:rPr>
              <a:t>Resources</a:t>
            </a:r>
          </a:p>
        </p:txBody>
      </p:sp>
      <p:sp>
        <p:nvSpPr>
          <p:cNvPr id="13" name="Rectangle 12"/>
          <p:cNvSpPr/>
          <p:nvPr/>
        </p:nvSpPr>
        <p:spPr>
          <a:xfrm>
            <a:off x="3322320" y="4114800"/>
            <a:ext cx="2682240" cy="1463040"/>
          </a:xfrm>
          <a:prstGeom prst="rect">
            <a:avLst/>
          </a:prstGeom>
          <a:noFill/>
          <a:ln w="12700">
            <a:solidFill>
              <a:srgbClr val="C9CED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tIns="54864" bIns="54864"/>
          <a:lstStyle/>
          <a:p>
            <a:pPr algn="l">
              <a:spcAft>
                <a:spcPts val="200"/>
              </a:spcAft>
            </a:pPr>
            <a:r>
              <a:rPr sz="1000" b="0">
                <a:solidFill>
                  <a:srgbClr val="262B33"/>
                </a:solidFill>
                <a:latin typeface="Arial"/>
              </a:rPr>
              <a:t>{{resources: what is already available}}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187440" y="3840480"/>
            <a:ext cx="2682240" cy="27432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tIns="54864" bIns="54864"/>
          <a:lstStyle/>
          <a:p>
            <a:pPr algn="l"/>
            <a:r>
              <a:rPr sz="1100" b="1">
                <a:solidFill>
                  <a:srgbClr val="262B33"/>
                </a:solidFill>
                <a:latin typeface="Arial"/>
              </a:rPr>
              <a:t>Resolution principle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187440" y="4114800"/>
            <a:ext cx="2682240" cy="1463040"/>
          </a:xfrm>
          <a:prstGeom prst="rect">
            <a:avLst/>
          </a:prstGeom>
          <a:noFill/>
          <a:ln w="12700">
            <a:solidFill>
              <a:srgbClr val="C9CED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tIns="54864" bIns="54864"/>
          <a:lstStyle/>
          <a:p>
            <a:pPr algn="l">
              <a:spcAft>
                <a:spcPts val="200"/>
              </a:spcAft>
            </a:pPr>
            <a:r>
              <a:rPr sz="1000" b="0">
                <a:solidFill>
                  <a:srgbClr val="262B33"/>
                </a:solidFill>
                <a:latin typeface="Arial"/>
              </a:rPr>
              <a:t>{{principle: principle used to resolve it}}</a:t>
            </a:r>
          </a:p>
        </p:txBody>
      </p:sp>
      <p:sp>
        <p:nvSpPr>
          <p:cNvPr id="16" name="Rectangle 15"/>
          <p:cNvSpPr/>
          <p:nvPr/>
        </p:nvSpPr>
        <p:spPr>
          <a:xfrm>
            <a:off x="9144000" y="1188720"/>
            <a:ext cx="2606040" cy="32004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tIns="54864" bIns="54864"/>
          <a:lstStyle/>
          <a:p>
            <a:pPr algn="l"/>
            <a:r>
              <a:rPr sz="1200" b="1">
                <a:solidFill>
                  <a:srgbClr val="262B33"/>
                </a:solidFill>
                <a:latin typeface="Arial"/>
              </a:rPr>
              <a:t>Solution</a:t>
            </a:r>
          </a:p>
        </p:txBody>
      </p:sp>
      <p:sp>
        <p:nvSpPr>
          <p:cNvPr id="17" name="Rectangle 16"/>
          <p:cNvSpPr/>
          <p:nvPr/>
        </p:nvSpPr>
        <p:spPr>
          <a:xfrm>
            <a:off x="9144000" y="1554480"/>
            <a:ext cx="2606040" cy="2011680"/>
          </a:xfrm>
          <a:prstGeom prst="rect">
            <a:avLst/>
          </a:prstGeom>
          <a:noFill/>
          <a:ln w="12700">
            <a:solidFill>
              <a:srgbClr val="C9CED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tIns="54864" bIns="54864"/>
          <a:lstStyle/>
          <a:p>
            <a:pPr algn="l">
              <a:spcAft>
                <a:spcPts val="400"/>
              </a:spcAft>
            </a:pPr>
            <a:r>
              <a:rPr sz="1000" b="0">
                <a:solidFill>
                  <a:srgbClr val="262B33"/>
                </a:solidFill>
                <a:latin typeface="Arial"/>
              </a:rPr>
              <a:t>{{solution: what was done to get both}}</a:t>
            </a:r>
          </a:p>
        </p:txBody>
      </p:sp>
      <p:sp>
        <p:nvSpPr>
          <p:cNvPr id="18" name="Rectangle 17"/>
          <p:cNvSpPr/>
          <p:nvPr/>
        </p:nvSpPr>
        <p:spPr>
          <a:xfrm>
            <a:off x="9144000" y="3703320"/>
            <a:ext cx="2606040" cy="32004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tIns="54864" bIns="54864"/>
          <a:lstStyle/>
          <a:p>
            <a:pPr algn="l"/>
            <a:r>
              <a:rPr sz="1200" b="1">
                <a:solidFill>
                  <a:srgbClr val="262B33"/>
                </a:solidFill>
                <a:latin typeface="Arial"/>
              </a:rPr>
              <a:t>Check</a:t>
            </a:r>
          </a:p>
        </p:txBody>
      </p:sp>
      <p:sp>
        <p:nvSpPr>
          <p:cNvPr id="19" name="Rectangle 18"/>
          <p:cNvSpPr/>
          <p:nvPr/>
        </p:nvSpPr>
        <p:spPr>
          <a:xfrm>
            <a:off x="9144000" y="4069080"/>
            <a:ext cx="2606040" cy="1874520"/>
          </a:xfrm>
          <a:prstGeom prst="rect">
            <a:avLst/>
          </a:prstGeom>
          <a:noFill/>
          <a:ln w="12700">
            <a:solidFill>
              <a:srgbClr val="C9CED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tIns="54864" bIns="54864"/>
          <a:lstStyle/>
          <a:p>
            <a:pPr algn="l">
              <a:spcAft>
                <a:spcPts val="400"/>
              </a:spcAft>
            </a:pPr>
            <a:r>
              <a:rPr sz="1000" b="0">
                <a:solidFill>
                  <a:srgbClr val="262B33"/>
                </a:solidFill>
                <a:latin typeface="Arial"/>
              </a:rPr>
              <a:t>{{check: how it was checked, result and deadline}}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