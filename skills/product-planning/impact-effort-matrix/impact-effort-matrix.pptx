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impact_effort_matrix_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impact_effort_matrix_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impact_effort_matrix_Microsoft_Excel_Sheet1.xlsx"/></Relationships>
</file>

<file path=ppt/charts/impact_effort_matrix_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Effort boundary</c:v>
                </c:pt>
              </c:strCache>
            </c:strRef>
          </c:tx>
          <c:spPr>
            <a:ln w="15875">
              <a:solidFill>
                <a:srgbClr val="6B7280"/>
              </a:solidFill>
            </a:ln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Impact boundary</c:v>
                </c:pt>
              </c:strCache>
            </c:strRef>
          </c:tx>
          <c:spPr>
            <a:ln w="15875">
              <a:solidFill>
                <a:srgbClr val="6B7280"/>
              </a:solidFill>
            </a:ln>
          </c:spPr>
          <c:marker>
            <c:symbol val="none"/>
          </c:marker>
          <c:xVal>
            <c:numRef>
              <c:f>Sheet1!$A$6:$A$7</c:f>
              <c:numCache>
                <c:formatCode>General</c:formatCode>
                <c:ptCount val="2"/>
                <c:pt idx="0">
                  <c:v>0</c:v>
                </c:pt>
                <c:pt idx="1">
                  <c:v>10</c:v>
                </c:pt>
              </c:numCache>
            </c:numRef>
          </c:xVal>
          <c:yVal>
            <c:numRef>
              <c:f>Sheet1!$B$6:$B$7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</c:f>
              <c:strCache>
                <c:ptCount val="1"/>
                <c:pt idx="0">
                  <c:v>Quick wins · 1st priority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2E8B57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Sheet1!$A$10:$A$10</c:f>
              <c:numCache>
                <c:formatCode>General</c:formatCode>
                <c:ptCount val="1"/>
                <c:pt idx="0">
                  <c:v>2.5</c:v>
                </c:pt>
              </c:numCache>
            </c:numRef>
          </c:xVal>
          <c:yVal>
            <c:numRef>
              <c:f>Sheet1!$B$10:$B$10</c:f>
              <c:numCache>
                <c:formatCode>General</c:formatCode>
                <c:ptCount val="1"/>
                <c:pt idx="0">
                  <c:v>9.55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Sheet1!$B$12</c:f>
              <c:strCache>
                <c:ptCount val="1"/>
                <c:pt idx="0">
                  <c:v>Major projects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Sheet1!$A$13:$A$13</c:f>
              <c:numCache>
                <c:formatCode>General</c:formatCode>
                <c:ptCount val="1"/>
                <c:pt idx="0">
                  <c:v>7.5</c:v>
                </c:pt>
              </c:numCache>
            </c:numRef>
          </c:xVal>
          <c:yVal>
            <c:numRef>
              <c:f>Sheet1!$B$13:$B$13</c:f>
              <c:numCache>
                <c:formatCode>General</c:formatCode>
                <c:ptCount val="1"/>
                <c:pt idx="0">
                  <c:v>9.55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Sheet1!$B$15</c:f>
              <c:strCache>
                <c:ptCount val="1"/>
                <c:pt idx="0">
                  <c:v>Fill-ins · 3rd priority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Sheet1!$A$16:$A$16</c:f>
              <c:numCache>
                <c:formatCode>General</c:formatCode>
                <c:ptCount val="1"/>
                <c:pt idx="0">
                  <c:v>2.5</c:v>
                </c:pt>
              </c:numCache>
            </c:numRef>
          </c:xVal>
          <c:yVal>
            <c:numRef>
              <c:f>Sheet1!$B$16:$B$16</c:f>
              <c:numCache>
                <c:formatCode>General</c:formatCode>
                <c:ptCount val="1"/>
                <c:pt idx="0">
                  <c:v>0.45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Sheet1!$B$18</c:f>
              <c:strCache>
                <c:ptCount val="1"/>
                <c:pt idx="0">
                  <c:v>Thankless tasks · do not take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C63D3D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Sheet1!$A$19:$A$19</c:f>
              <c:numCache>
                <c:formatCode>General</c:formatCode>
                <c:ptCount val="1"/>
                <c:pt idx="0">
                  <c:v>7.5</c:v>
                </c:pt>
              </c:numCache>
            </c:numRef>
          </c:xVal>
          <c:yVal>
            <c:numRef>
              <c:f>Sheet1!$B$19:$B$19</c:f>
              <c:numCache>
                <c:formatCode>General</c:formatCode>
                <c:ptCount val="1"/>
                <c:pt idx="0">
                  <c:v>0.45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Sheet1!$B$21</c:f>
              <c:strCache>
                <c:ptCount val="1"/>
                <c:pt idx="0">
                  <c:v>{{idea: idea name}}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100" b="0">
                    <a:solidFill>
                      <a:srgbClr val="262B33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Sheet1!$A$22:$A$22</c:f>
              <c:numCache>
                <c:formatCode>General</c:formatCode>
                <c:ptCount val="1"/>
                <c:pt idx="0">
                  <c:v>5</c:v>
                </c:pt>
              </c:numCache>
            </c:numRef>
          </c:xVal>
          <c:yVal>
            <c:numRef>
              <c:f>Sheet1!$B$22:$B$22</c:f>
              <c:numCache>
                <c:formatCode>General</c:formatCode>
                <c:ptCount val="1"/>
                <c:pt idx="0">
                  <c:v>5</c:v>
                </c:pt>
              </c:numCache>
            </c:numRef>
          </c:yVal>
          <c:smooth val="0"/>
        </c:ser>
        <c:axId val="500000"/>
        <c:axId val="500001"/>
      </c:scatterChart>
      <c:valAx>
        <c:axId val="500000"/>
        <c:scaling>
          <c:orientation val="minMax"/>
          <c:max val="10.0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100" b="0">
                    <a:solidFill>
                      <a:srgbClr val="6B7280"/>
                    </a:solidFill>
                    <a:latin typeface="Arial"/>
                  </a:rPr>
                  <a:t>Implementation effort (Effort), 0–10 →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500001"/>
        <c:crosses val="autoZero"/>
        <c:crossBetween val="midCat"/>
        <c:majorUnit val="1.0"/>
      </c:valAx>
      <c:valAx>
        <c:axId val="500001"/>
        <c:scaling>
          <c:orientation val="minMax"/>
          <c:max val="10.0"/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B7280"/>
                    </a:solidFill>
                    <a:latin typeface="Arial"/>
                  </a:rPr>
                  <a:t>Business impact (Impact), 0–10 →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500000"/>
        <c:crosses val="autoZero"/>
        <c:crossBetween val="midCat"/>
        <c:majorUnit val="1.0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262B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impact_effort_matrix_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IMPACT / EFFORT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goal and the set of ideas}}</a:t>
            </a:r>
          </a:p>
        </p:txBody>
      </p:sp>
      <p:graphicFrame>
        <p:nvGraphicFramePr>
          <p:cNvPr id="4" name="matrix"/>
          <p:cNvGraphicFramePr>
            <a:graphicFrameLocks noGrp="1"/>
          </p:cNvGraphicFramePr>
          <p:nvPr/>
        </p:nvGraphicFramePr>
        <p:xfrm>
          <a:off x="365760" y="1188720"/>
          <a:ext cx="786384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458200" y="11887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Goal and scales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8200" y="1508760"/>
            <a:ext cx="3291840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{{scales: metric and meaning of the 0–10 scales}}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288036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What we take 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3200400"/>
            <a:ext cx="329184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do now, plan and postpone}}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498348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What we do not take and 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5303520"/>
            <a:ext cx="3291840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{{rejected: ideas not taken, with reasons}}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