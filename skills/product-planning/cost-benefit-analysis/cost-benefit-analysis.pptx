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ost_benefit_analysis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ost_benefit_analysis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ost_benefit_analysis_Microsoft_Excel_Sheet1.xlsx"/></Relationships>
</file>

<file path=ppt/charts/cost_benefit_analysis_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Break-even (1.0)</c:v>
                </c:pt>
              </c:strCache>
            </c:strRef>
          </c:tx>
          <c:spPr>
            <a:ln w="19050">
              <a:solidFill>
                <a:srgbClr val="6B7280"/>
              </a:solidFill>
              <a:prstDash val="dash"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{{option_a: option name}}</c:v>
                </c:pt>
              </c:strCache>
            </c:strRef>
          </c:tx>
          <c:spPr>
            <a:ln w="31750">
              <a:solidFill>
                <a:srgbClr val="2F6FDE"/>
              </a:solidFill>
            </a:ln>
          </c:spPr>
          <c:marker>
            <c:symbol val="circle"/>
            <c:size val="7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{{option_b: option name}}</c:v>
                </c:pt>
              </c:strCache>
            </c:strRef>
          </c:tx>
          <c:spPr>
            <a:ln w="31750">
              <a:solidFill>
                <a:srgbClr val="E08A1E"/>
              </a:solidFill>
            </a:ln>
          </c:spPr>
          <c:marker>
            <c:symbol val="circle"/>
            <c:size val="7"/>
            <c:spPr>
              <a:solidFill>
                <a:srgbClr val="E08A1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{{option_c: option name}}</c:v>
                </c:pt>
              </c:strCache>
            </c:strRef>
          </c:tx>
          <c:spPr>
            <a:ln w="31750">
              <a:solidFill>
                <a:srgbClr val="2E8B57"/>
              </a:solidFill>
            </a:ln>
          </c:spPr>
          <c:marker>
            <c:symbol val="circle"/>
            <c:size val="7"/>
            <c:spPr>
              <a:solidFill>
                <a:srgbClr val="2E8B57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Period 1</c:v>
                </c:pt>
                <c:pt idx="1">
                  <c:v>Period 2</c:v>
                </c:pt>
                <c:pt idx="2">
                  <c:v>Period 3</c:v>
                </c:pt>
                <c:pt idx="3">
                  <c:v>Period 4</c:v>
                </c:pt>
                <c:pt idx="4">
                  <c:v>Period 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B7280"/>
                    </a:solidFill>
                    <a:latin typeface="Arial"/>
                  </a:rPr>
                  <a:t>Time →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0"/>
          <c:min val="0.0"/>
        </c:scaling>
        <c:delete val="0"/>
        <c:axPos val="l"/>
        <c:majorGridlines>
          <c:spPr>
            <a:ln>
              <a:solidFill>
                <a:srgbClr val="ECEE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6B7280"/>
                    </a:solidFill>
                    <a:latin typeface="Arial"/>
                  </a:rPr>
                  <a:t>Cumulative benefits / cumulative costs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18791784"/>
        <c:crosses val="autoZero"/>
        <c:majorUnit val="0.5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262B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ost_benefit_analysis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COST / BENEFIT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decision and the options compared}}</a:t>
            </a:r>
          </a:p>
        </p:txBody>
      </p:sp>
      <p:graphicFrame>
        <p:nvGraphicFramePr>
          <p:cNvPr id="4" name="ratio"/>
          <p:cNvGraphicFramePr>
            <a:graphicFrameLocks noGrp="1"/>
          </p:cNvGraphicFramePr>
          <p:nvPr/>
        </p:nvGraphicFramePr>
        <p:xfrm>
          <a:off x="365760" y="1188720"/>
          <a:ext cx="786384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8200" y="150876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{{assumptions: horizon, benefits, costs and discount rate}}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7889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Totals by option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3108960"/>
            <a:ext cx="3291840" cy="14630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{{totals: payback, ratio and net benefit per option}}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457200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4892040"/>
            <a:ext cx="329184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launch, postpone or close, revisit condition}}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