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user goal and flow}}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32120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161288"/>
            <a:ext cx="542239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User goal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90472"/>
            <a:ext cx="5422392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{{goal: {{goal: what the user wants to get}}}}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143000"/>
            <a:ext cx="5532120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54496" y="1161288"/>
            <a:ext cx="542239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Flow boundaries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490472"/>
            <a:ext cx="5422392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{{scope: entry, end and flows left out}}</a:t>
            </a:r>
          </a:p>
        </p:txBody>
      </p:sp>
      <p:sp>
        <p:nvSpPr>
          <p:cNvPr id="10" name="Terminator 9"/>
          <p:cNvSpPr/>
          <p:nvPr/>
        </p:nvSpPr>
        <p:spPr>
          <a:xfrm>
            <a:off x="365760" y="2331720"/>
            <a:ext cx="1280160" cy="1325880"/>
          </a:xfrm>
          <a:prstGeom prst="flowChartTerminator">
            <a:avLst/>
          </a:prstGeom>
          <a:solidFill>
            <a:srgbClr val="E8F5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E8B57"/>
                </a:solidFill>
                <a:latin typeface="Arial"/>
              </a:rPr>
              <a:t>{{start: entry point}}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2331720"/>
            <a:ext cx="1737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{{s1: screen and user action}}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331720"/>
            <a:ext cx="1737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{{s2: screen and user action}}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331720"/>
            <a:ext cx="1737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{{s3: screen and user action}}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331720"/>
            <a:ext cx="1737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62B33"/>
                </a:solidFill>
                <a:latin typeface="Arial"/>
              </a:rPr>
              <a:t>{{s4: screen and user action}}</a:t>
            </a:r>
          </a:p>
        </p:txBody>
      </p:sp>
      <p:sp>
        <p:nvSpPr>
          <p:cNvPr id="15" name="Terminator 14"/>
          <p:cNvSpPr/>
          <p:nvPr/>
        </p:nvSpPr>
        <p:spPr>
          <a:xfrm>
            <a:off x="10287000" y="2331720"/>
            <a:ext cx="1508760" cy="1325880"/>
          </a:xfrm>
          <a:prstGeom prst="flowChartTerminator">
            <a:avLst/>
          </a:prstGeom>
          <a:solidFill>
            <a:srgbClr val="E8F5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0">
                <a:solidFill>
                  <a:srgbClr val="2E8B57"/>
                </a:solidFill>
                <a:latin typeface="Arial"/>
              </a:rPr>
              <a:t>{{end: end state and result}}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19" y="2994660"/>
            <a:ext cx="411481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94760" y="2994660"/>
            <a:ext cx="32004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52160" y="2994660"/>
            <a:ext cx="32004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09560" y="2994660"/>
            <a:ext cx="32004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966960" y="2994660"/>
            <a:ext cx="32004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optional_condition"/>
          <p:cNvGrpSpPr/>
          <p:nvPr/>
        </p:nvGrpSpPr>
        <p:grpSpPr>
          <a:xfrm>
            <a:off x="3840480" y="3657600"/>
            <a:ext cx="5257800" cy="1234440"/>
            <a:chOff x="3840480" y="3657600"/>
            <a:chExt cx="5257800" cy="1234440"/>
          </a:xfrm>
        </p:grpSpPr>
        <p:cxnSp>
          <p:nvCxnSpPr>
            <p:cNvPr id="22" name="Connector 21"/>
            <p:cNvCxnSpPr/>
            <p:nvPr/>
          </p:nvCxnSpPr>
          <p:spPr>
            <a:xfrm>
              <a:off x="7040880" y="3657600"/>
              <a:ext cx="0" cy="182880"/>
            </a:xfrm>
            <a:prstGeom prst="line">
              <a:avLst/>
            </a:prstGeom>
            <a:ln w="19050">
              <a:solidFill>
                <a:srgbClr val="6B728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Decision 22"/>
            <p:cNvSpPr/>
            <p:nvPr/>
          </p:nvSpPr>
          <p:spPr>
            <a:xfrm>
              <a:off x="6172200" y="3840480"/>
              <a:ext cx="1737360" cy="1051560"/>
            </a:xfrm>
            <a:prstGeom prst="flowChartDecision">
              <a:avLst/>
            </a:prstGeom>
            <a:solidFill>
              <a:srgbClr val="FFFFFF"/>
            </a:solidFill>
            <a:ln w="12700">
              <a:solidFill>
                <a:srgbClr val="2F6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ctr"/>
              <a:r>
                <a:rPr sz="900" b="0">
                  <a:solidFill>
                    <a:srgbClr val="262B33"/>
                  </a:solidFill>
                  <a:latin typeface="Arial"/>
                </a:rPr>
                <a:t>{{cond: yes-or-no condition}}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7909560" y="4366260"/>
              <a:ext cx="1188720" cy="0"/>
            </a:xfrm>
            <a:prstGeom prst="line">
              <a:avLst/>
            </a:prstGeom>
            <a:ln w="19050">
              <a:solidFill>
                <a:srgbClr val="6B72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9098280" y="3657600"/>
              <a:ext cx="0" cy="708660"/>
            </a:xfrm>
            <a:prstGeom prst="line">
              <a:avLst/>
            </a:prstGeom>
            <a:ln w="19050">
              <a:solidFill>
                <a:srgbClr val="6B728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7955279" y="4055364"/>
              <a:ext cx="457200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900" b="1">
                  <a:solidFill>
                    <a:srgbClr val="2E8B57"/>
                  </a:solidFill>
                  <a:latin typeface="Arial"/>
                </a:rPr>
                <a:t>yes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 flipH="1">
              <a:off x="5577840" y="4366260"/>
              <a:ext cx="594360" cy="0"/>
            </a:xfrm>
            <a:prstGeom prst="line">
              <a:avLst/>
            </a:prstGeom>
            <a:ln w="19050">
              <a:solidFill>
                <a:srgbClr val="6B728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5669280" y="4055364"/>
              <a:ext cx="457200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900" b="1">
                  <a:solidFill>
                    <a:srgbClr val="C63D3D"/>
                  </a:solidFill>
                  <a:latin typeface="Arial"/>
                </a:rPr>
                <a:t>no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840480" y="3973068"/>
              <a:ext cx="1737360" cy="786384"/>
            </a:xfrm>
            <a:prstGeom prst="rect">
              <a:avLst/>
            </a:prstGeom>
            <a:solidFill>
              <a:srgbClr val="FBEAEA"/>
            </a:solidFill>
            <a:ln w="12700">
              <a:solidFill>
                <a:srgbClr val="C63D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ctr"/>
              <a:r>
                <a:rPr sz="900" b="0">
                  <a:solidFill>
                    <a:srgbClr val="262B33"/>
                  </a:solidFill>
                  <a:latin typeface="Arial"/>
                </a:rPr>
                <a:t>{{alt: screen on the no branch}}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 flipV="1">
              <a:off x="4709160" y="3657600"/>
              <a:ext cx="0" cy="315468"/>
            </a:xfrm>
            <a:prstGeom prst="line">
              <a:avLst/>
            </a:prstGeom>
            <a:ln w="19050">
              <a:solidFill>
                <a:srgbClr val="6B728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457200" y="4023360"/>
            <a:ext cx="32918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" y="4041648"/>
            <a:ext cx="318211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6B7280"/>
                </a:solidFill>
                <a:latin typeface="Arial"/>
              </a:rPr>
              <a:t>Other flows and entries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4370832"/>
            <a:ext cx="3182112" cy="4846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{{other: neighboring flows and other entries}}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3657600" cy="11430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2064" y="5047488"/>
            <a:ext cx="354787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Problems of the old interface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5376672"/>
            <a:ext cx="3547872" cy="7589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{{issues: where people got lost, and the evidence}}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5029200"/>
            <a:ext cx="3840480" cy="114300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06824" y="5047488"/>
            <a:ext cx="373075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Decision (new interface)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6824" y="5376672"/>
            <a:ext cx="3730752" cy="7589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merged, removed or moved, and why}}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5029200"/>
            <a:ext cx="3502152" cy="11430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84464" y="5047488"/>
            <a:ext cx="3392424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Check and result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84464" y="5376672"/>
            <a:ext cx="3392424" cy="7589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{{check: how it was verified and the result}}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Legend: oval is entry and end, rectangle is a step (a screen or a screen state), diamond is a condition (if any), arrow is a transition.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