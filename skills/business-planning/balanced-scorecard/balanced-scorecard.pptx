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BALANCED SCORECARD · FOUR PERSPECTIVES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company or unit and the period}}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4572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{{strategy: the strategy or vision the scorecard serves}}</a:t>
            </a:r>
          </a:p>
        </p:txBody>
      </p:sp>
      <p:sp>
        <p:nvSpPr>
          <p:cNvPr id="5" name="Rectangle 4"/>
          <p:cNvSpPr/>
          <p:nvPr/>
        </p:nvSpPr>
        <p:spPr>
          <a:xfrm>
            <a:off x="2798064" y="1691640"/>
            <a:ext cx="2941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94248" y="1691640"/>
            <a:ext cx="2941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Measures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790432" y="1691640"/>
            <a:ext cx="2941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Targets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84248"/>
            <a:ext cx="2286000" cy="896112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Financial</a:t>
            </a:r>
          </a:p>
          <a:p>
            <a:r>
              <a:rPr sz="900">
                <a:solidFill>
                  <a:srgbClr val="FFFFFF"/>
                </a:solidFill>
                <a:latin typeface="Arial"/>
              </a:rPr>
              <a:t>How do we look to shareholders?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98064" y="1984248"/>
            <a:ext cx="29413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{{g1: what we want to achieve in this perspective}}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94248" y="1984248"/>
            <a:ext cx="29413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{{m1: how we measure it in this perspective}}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90432" y="1984248"/>
            <a:ext cx="29413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{{t1: target value and date in this perspective}}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35224"/>
            <a:ext cx="2286000" cy="896112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Customer</a:t>
            </a:r>
          </a:p>
          <a:p>
            <a:r>
              <a:rPr sz="900">
                <a:solidFill>
                  <a:srgbClr val="FFFFFF"/>
                </a:solidFill>
                <a:latin typeface="Arial"/>
              </a:rPr>
              <a:t>How do customers see us?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98064" y="2935224"/>
            <a:ext cx="29413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{{g2: what we want to achieve in this perspective}}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94248" y="2935224"/>
            <a:ext cx="29413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{{m2: how we measure it in this perspective}}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90432" y="2935224"/>
            <a:ext cx="29413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{{t2: target value and date in this perspective}}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2286000" cy="896112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Internal business process</a:t>
            </a:r>
          </a:p>
          <a:p>
            <a:r>
              <a:rPr sz="900">
                <a:solidFill>
                  <a:srgbClr val="FFFFFF"/>
                </a:solidFill>
                <a:latin typeface="Arial"/>
              </a:rPr>
              <a:t>What must we excel at?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98064" y="3886200"/>
            <a:ext cx="29413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{{g3: what we want to achieve in this perspective}}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94248" y="3886200"/>
            <a:ext cx="29413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{{m3: how we measure it in this perspective}}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90432" y="3886200"/>
            <a:ext cx="29413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{{t3: target value and date in this perspective}}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37176"/>
            <a:ext cx="2286000" cy="896112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Innovation and learning</a:t>
            </a:r>
          </a:p>
          <a:p>
            <a:r>
              <a:rPr sz="900">
                <a:solidFill>
                  <a:srgbClr val="FFFFFF"/>
                </a:solidFill>
                <a:latin typeface="Arial"/>
              </a:rPr>
              <a:t>Can we continue to improve and create value?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98064" y="4837176"/>
            <a:ext cx="29413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{{g4: what we want to achieve in this perspective}}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94248" y="4837176"/>
            <a:ext cx="29413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{{m4: how we measure it in this perspective}}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90432" y="4837176"/>
            <a:ext cx="29413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{{t4: target value and date in this perspective}}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806440"/>
            <a:ext cx="17373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062472"/>
            <a:ext cx="11274552" cy="749808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what the scorecard changed in the plan or the measures}}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