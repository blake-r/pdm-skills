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PRODUCT ECOSYSTEM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company, customer and map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Touchpoints: entry points with no value of their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53896"/>
            <a:ext cx="11274552" cy="4572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{{touch: entry apps and sites, and their reach}}</a:t>
            </a:r>
          </a:p>
        </p:txBody>
      </p:sp>
      <p:sp>
        <p:nvSpPr>
          <p:cNvPr id="6" name="Pentagon 5"/>
          <p:cNvSpPr/>
          <p:nvPr/>
        </p:nvSpPr>
        <p:spPr>
          <a:xfrm>
            <a:off x="457200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activation conversion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{{lead: products that bring in customers}}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{{lead_m: metric value and source}}</a:t>
            </a:r>
          </a:p>
        </p:txBody>
      </p:sp>
      <p:sp>
        <p:nvSpPr>
          <p:cNvPr id="10" name="Pentagon 9"/>
          <p:cNvSpPr/>
          <p:nvPr/>
        </p:nvSpPr>
        <p:spPr>
          <a:xfrm>
            <a:off x="2351532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1532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North Star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1532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{{value: products the customer comes for}}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1532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{{value_m: metric value and source}}</a:t>
            </a:r>
          </a:p>
        </p:txBody>
      </p:sp>
      <p:sp>
        <p:nvSpPr>
          <p:cNvPr id="14" name="Pentagon 13"/>
          <p:cNvSpPr/>
          <p:nvPr/>
        </p:nvSpPr>
        <p:spPr>
          <a:xfrm>
            <a:off x="4245864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5864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average revenue per paying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5864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{{profit: products the company earns on}}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5864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{{profit_m: metric value and source}}</a:t>
            </a:r>
          </a:p>
        </p:txBody>
      </p:sp>
      <p:sp>
        <p:nvSpPr>
          <p:cNvPr id="18" name="Pentagon 17"/>
          <p:cNvSpPr/>
          <p:nvPr/>
        </p:nvSpPr>
        <p:spPr>
          <a:xfrm>
            <a:off x="6140196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0196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average conversions per user per period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{{engage: products that raise engagement}}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0196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{{engage_m: metric value and source}}</a:t>
            </a:r>
          </a:p>
        </p:txBody>
      </p:sp>
      <p:sp>
        <p:nvSpPr>
          <p:cNvPr id="22" name="Pentagon 21"/>
          <p:cNvSpPr/>
          <p:nvPr/>
        </p:nvSpPr>
        <p:spPr>
          <a:xfrm>
            <a:off x="8034528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Upsale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4528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average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528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{{upsale: extra-profit products}}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4528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{{upsale_m: metric value and source}}</a:t>
            </a:r>
          </a:p>
        </p:txBody>
      </p:sp>
      <p:sp>
        <p:nvSpPr>
          <p:cNvPr id="26" name="Pentagon 25"/>
          <p:cNvSpPr/>
          <p:nvPr/>
        </p:nvSpPr>
        <p:spPr>
          <a:xfrm>
            <a:off x="9928860" y="2011680"/>
            <a:ext cx="1802892" cy="365760"/>
          </a:xfrm>
          <a:prstGeom prst="homePlat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Retention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8860" y="2377440"/>
            <a:ext cx="18028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Metric: short-term and long-term retention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8860" y="2944368"/>
            <a:ext cx="180289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{{retain: retention products and next steps}}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8860" y="4023360"/>
            <a:ext cx="18028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{{retain_m: metric value and source}}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1127455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Transfer value: data passed between products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11496"/>
            <a:ext cx="11274552" cy="45720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{{transfer: from and to which product, data and level}}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3566160" cy="274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35661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{{platform: platform and unified user profile}}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669280"/>
            <a:ext cx="3200400" cy="274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Operational Efficiency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43600"/>
            <a:ext cx="320040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{{ops: internal automation products and metric}}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5669280"/>
            <a:ext cx="4325112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5943600"/>
            <a:ext cx="4325112" cy="64008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launch, close or move, and metric}}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