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GARTNER HYPE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area, assessment date}}</a:t>
            </a:r>
          </a:p>
        </p:txBody>
      </p:sp>
      <p:sp>
        <p:nvSpPr>
          <p:cNvPr id="4" name="Freeform 3"/>
          <p:cNvSpPr/>
          <p:nvPr/>
        </p:nvSpPr>
        <p:spPr>
          <a:xfrm>
            <a:off x="822960" y="1337899"/>
            <a:ext cx="10881360" cy="2601436"/>
          </a:xfrm>
          <a:custGeom>
            <a:avLst/>
            <a:gdLst/>
            <a:ahLst/>
            <a:cxnLst/>
            <a:rect l="l" t="t" r="r" b="b"/>
            <a:pathLst>
              <a:path w="10881360" h="2601436">
                <a:moveTo>
                  <a:pt x="0" y="2601436"/>
                </a:moveTo>
                <a:lnTo>
                  <a:pt x="54406" y="2601368"/>
                </a:lnTo>
                <a:lnTo>
                  <a:pt x="108813" y="2601275"/>
                </a:lnTo>
                <a:lnTo>
                  <a:pt x="163220" y="2601146"/>
                </a:lnTo>
                <a:lnTo>
                  <a:pt x="217627" y="2600966"/>
                </a:lnTo>
                <a:lnTo>
                  <a:pt x="272034" y="2600716"/>
                </a:lnTo>
                <a:lnTo>
                  <a:pt x="326440" y="2600366"/>
                </a:lnTo>
                <a:lnTo>
                  <a:pt x="380847" y="2599881"/>
                </a:lnTo>
                <a:lnTo>
                  <a:pt x="435254" y="2599209"/>
                </a:lnTo>
                <a:lnTo>
                  <a:pt x="489661" y="2598284"/>
                </a:lnTo>
                <a:lnTo>
                  <a:pt x="544068" y="2597020"/>
                </a:lnTo>
                <a:lnTo>
                  <a:pt x="598474" y="2595305"/>
                </a:lnTo>
                <a:lnTo>
                  <a:pt x="652881" y="2592998"/>
                </a:lnTo>
                <a:lnTo>
                  <a:pt x="707288" y="2589919"/>
                </a:lnTo>
                <a:lnTo>
                  <a:pt x="761695" y="2585848"/>
                </a:lnTo>
                <a:lnTo>
                  <a:pt x="816102" y="2580514"/>
                </a:lnTo>
                <a:lnTo>
                  <a:pt x="870508" y="2573587"/>
                </a:lnTo>
                <a:lnTo>
                  <a:pt x="924915" y="2564680"/>
                </a:lnTo>
                <a:lnTo>
                  <a:pt x="979322" y="2553333"/>
                </a:lnTo>
                <a:lnTo>
                  <a:pt x="1033729" y="2539019"/>
                </a:lnTo>
                <a:lnTo>
                  <a:pt x="1088136" y="2521141"/>
                </a:lnTo>
                <a:lnTo>
                  <a:pt x="1142542" y="2499031"/>
                </a:lnTo>
                <a:lnTo>
                  <a:pt x="1196949" y="2471963"/>
                </a:lnTo>
                <a:lnTo>
                  <a:pt x="1251356" y="2439162"/>
                </a:lnTo>
                <a:lnTo>
                  <a:pt x="1305763" y="2399823"/>
                </a:lnTo>
                <a:lnTo>
                  <a:pt x="1360170" y="2353135"/>
                </a:lnTo>
                <a:lnTo>
                  <a:pt x="1414576" y="2298314"/>
                </a:lnTo>
                <a:lnTo>
                  <a:pt x="1468983" y="2234634"/>
                </a:lnTo>
                <a:lnTo>
                  <a:pt x="1523390" y="2161475"/>
                </a:lnTo>
                <a:lnTo>
                  <a:pt x="1577797" y="2078364"/>
                </a:lnTo>
                <a:lnTo>
                  <a:pt x="1632204" y="1985026"/>
                </a:lnTo>
                <a:lnTo>
                  <a:pt x="1686610" y="1881433"/>
                </a:lnTo>
                <a:lnTo>
                  <a:pt x="1741017" y="1767842"/>
                </a:lnTo>
                <a:lnTo>
                  <a:pt x="1795424" y="1644841"/>
                </a:lnTo>
                <a:lnTo>
                  <a:pt x="1849831" y="1513377"/>
                </a:lnTo>
                <a:lnTo>
                  <a:pt x="1904238" y="1374768"/>
                </a:lnTo>
                <a:lnTo>
                  <a:pt x="1958644" y="1230709"/>
                </a:lnTo>
                <a:lnTo>
                  <a:pt x="2013051" y="1083256"/>
                </a:lnTo>
                <a:lnTo>
                  <a:pt x="2067458" y="934790"/>
                </a:lnTo>
                <a:lnTo>
                  <a:pt x="2121865" y="787963"/>
                </a:lnTo>
                <a:lnTo>
                  <a:pt x="2176272" y="645628"/>
                </a:lnTo>
                <a:lnTo>
                  <a:pt x="2230678" y="510750"/>
                </a:lnTo>
                <a:lnTo>
                  <a:pt x="2285085" y="386305"/>
                </a:lnTo>
                <a:lnTo>
                  <a:pt x="2339492" y="275176"/>
                </a:lnTo>
                <a:lnTo>
                  <a:pt x="2393899" y="180039"/>
                </a:lnTo>
                <a:lnTo>
                  <a:pt x="2448306" y="103254"/>
                </a:lnTo>
                <a:lnTo>
                  <a:pt x="2502712" y="46775"/>
                </a:lnTo>
                <a:lnTo>
                  <a:pt x="2557119" y="12057"/>
                </a:lnTo>
                <a:lnTo>
                  <a:pt x="2611526" y="0"/>
                </a:lnTo>
                <a:lnTo>
                  <a:pt x="2665933" y="10906"/>
                </a:lnTo>
                <a:lnTo>
                  <a:pt x="2720340" y="44467"/>
                </a:lnTo>
                <a:lnTo>
                  <a:pt x="2774746" y="99779"/>
                </a:lnTo>
                <a:lnTo>
                  <a:pt x="2829153" y="175378"/>
                </a:lnTo>
                <a:lnTo>
                  <a:pt x="2883560" y="269307"/>
                </a:lnTo>
                <a:lnTo>
                  <a:pt x="2937967" y="379199"/>
                </a:lnTo>
                <a:lnTo>
                  <a:pt x="2992374" y="502372"/>
                </a:lnTo>
                <a:lnTo>
                  <a:pt x="3046780" y="635937"/>
                </a:lnTo>
                <a:lnTo>
                  <a:pt x="3101187" y="776912"/>
                </a:lnTo>
                <a:lnTo>
                  <a:pt x="3155594" y="922324"/>
                </a:lnTo>
                <a:lnTo>
                  <a:pt x="3210001" y="1069315"/>
                </a:lnTo>
                <a:lnTo>
                  <a:pt x="3264408" y="1215224"/>
                </a:lnTo>
                <a:lnTo>
                  <a:pt x="3318814" y="1357665"/>
                </a:lnTo>
                <a:lnTo>
                  <a:pt x="3373221" y="1494572"/>
                </a:lnTo>
                <a:lnTo>
                  <a:pt x="3427628" y="1624245"/>
                </a:lnTo>
                <a:lnTo>
                  <a:pt x="3482035" y="1745353"/>
                </a:lnTo>
                <a:lnTo>
                  <a:pt x="3536442" y="1856944"/>
                </a:lnTo>
                <a:lnTo>
                  <a:pt x="3590848" y="1958421"/>
                </a:lnTo>
                <a:lnTo>
                  <a:pt x="3645255" y="2049515"/>
                </a:lnTo>
                <a:lnTo>
                  <a:pt x="3699662" y="2130246"/>
                </a:lnTo>
                <a:lnTo>
                  <a:pt x="3754069" y="2200877"/>
                </a:lnTo>
                <a:lnTo>
                  <a:pt x="3808476" y="2261870"/>
                </a:lnTo>
                <a:lnTo>
                  <a:pt x="3862882" y="2313834"/>
                </a:lnTo>
                <a:lnTo>
                  <a:pt x="3917289" y="2357482"/>
                </a:lnTo>
                <a:lnTo>
                  <a:pt x="3971696" y="2393586"/>
                </a:lnTo>
                <a:lnTo>
                  <a:pt x="4026103" y="2422942"/>
                </a:lnTo>
                <a:lnTo>
                  <a:pt x="4080510" y="2446343"/>
                </a:lnTo>
                <a:lnTo>
                  <a:pt x="4134916" y="2464548"/>
                </a:lnTo>
                <a:lnTo>
                  <a:pt x="4189323" y="2478269"/>
                </a:lnTo>
                <a:lnTo>
                  <a:pt x="4243730" y="2488154"/>
                </a:lnTo>
                <a:lnTo>
                  <a:pt x="4298137" y="2494787"/>
                </a:lnTo>
                <a:lnTo>
                  <a:pt x="4352544" y="2498678"/>
                </a:lnTo>
                <a:lnTo>
                  <a:pt x="4406950" y="2500265"/>
                </a:lnTo>
                <a:lnTo>
                  <a:pt x="4461357" y="2499920"/>
                </a:lnTo>
                <a:lnTo>
                  <a:pt x="4515764" y="2497953"/>
                </a:lnTo>
                <a:lnTo>
                  <a:pt x="4570171" y="2494613"/>
                </a:lnTo>
                <a:lnTo>
                  <a:pt x="4624578" y="2490103"/>
                </a:lnTo>
                <a:lnTo>
                  <a:pt x="4678984" y="2484580"/>
                </a:lnTo>
                <a:lnTo>
                  <a:pt x="4733391" y="2478166"/>
                </a:lnTo>
                <a:lnTo>
                  <a:pt x="4787798" y="2470950"/>
                </a:lnTo>
                <a:lnTo>
                  <a:pt x="4842205" y="2462997"/>
                </a:lnTo>
                <a:lnTo>
                  <a:pt x="4896612" y="2454353"/>
                </a:lnTo>
                <a:lnTo>
                  <a:pt x="4951018" y="2445046"/>
                </a:lnTo>
                <a:lnTo>
                  <a:pt x="5005425" y="2435094"/>
                </a:lnTo>
                <a:lnTo>
                  <a:pt x="5059832" y="2424504"/>
                </a:lnTo>
                <a:lnTo>
                  <a:pt x="5114239" y="2413276"/>
                </a:lnTo>
                <a:lnTo>
                  <a:pt x="5168646" y="2401409"/>
                </a:lnTo>
                <a:lnTo>
                  <a:pt x="5223052" y="2388894"/>
                </a:lnTo>
                <a:lnTo>
                  <a:pt x="5277459" y="2375723"/>
                </a:lnTo>
                <a:lnTo>
                  <a:pt x="5331866" y="2361889"/>
                </a:lnTo>
                <a:lnTo>
                  <a:pt x="5386273" y="2347383"/>
                </a:lnTo>
                <a:lnTo>
                  <a:pt x="5440680" y="2332198"/>
                </a:lnTo>
                <a:lnTo>
                  <a:pt x="5495086" y="2316330"/>
                </a:lnTo>
                <a:lnTo>
                  <a:pt x="5549493" y="2299776"/>
                </a:lnTo>
                <a:lnTo>
                  <a:pt x="5603900" y="2282536"/>
                </a:lnTo>
                <a:lnTo>
                  <a:pt x="5658307" y="2264616"/>
                </a:lnTo>
                <a:lnTo>
                  <a:pt x="5712714" y="2246021"/>
                </a:lnTo>
                <a:lnTo>
                  <a:pt x="5767120" y="2226764"/>
                </a:lnTo>
                <a:lnTo>
                  <a:pt x="5821527" y="2206861"/>
                </a:lnTo>
                <a:lnTo>
                  <a:pt x="5875934" y="2186332"/>
                </a:lnTo>
                <a:lnTo>
                  <a:pt x="5930341" y="2165202"/>
                </a:lnTo>
                <a:lnTo>
                  <a:pt x="5984748" y="2143500"/>
                </a:lnTo>
                <a:lnTo>
                  <a:pt x="6039154" y="2121261"/>
                </a:lnTo>
                <a:lnTo>
                  <a:pt x="6093561" y="2098522"/>
                </a:lnTo>
                <a:lnTo>
                  <a:pt x="6147968" y="2075328"/>
                </a:lnTo>
                <a:lnTo>
                  <a:pt x="6202375" y="2051724"/>
                </a:lnTo>
                <a:lnTo>
                  <a:pt x="6256782" y="2027762"/>
                </a:lnTo>
                <a:lnTo>
                  <a:pt x="6311188" y="2003495"/>
                </a:lnTo>
                <a:lnTo>
                  <a:pt x="6365595" y="1978982"/>
                </a:lnTo>
                <a:lnTo>
                  <a:pt x="6420002" y="1954281"/>
                </a:lnTo>
                <a:lnTo>
                  <a:pt x="6474409" y="1929453"/>
                </a:lnTo>
                <a:lnTo>
                  <a:pt x="6528815" y="1904563"/>
                </a:lnTo>
                <a:lnTo>
                  <a:pt x="6583222" y="1879672"/>
                </a:lnTo>
                <a:lnTo>
                  <a:pt x="6637629" y="1854845"/>
                </a:lnTo>
                <a:lnTo>
                  <a:pt x="6692036" y="1830144"/>
                </a:lnTo>
                <a:lnTo>
                  <a:pt x="6746443" y="1805631"/>
                </a:lnTo>
                <a:lnTo>
                  <a:pt x="6800850" y="1781364"/>
                </a:lnTo>
                <a:lnTo>
                  <a:pt x="6855256" y="1757402"/>
                </a:lnTo>
                <a:lnTo>
                  <a:pt x="6909663" y="1733798"/>
                </a:lnTo>
                <a:lnTo>
                  <a:pt x="6964070" y="1710604"/>
                </a:lnTo>
                <a:lnTo>
                  <a:pt x="7018477" y="1687865"/>
                </a:lnTo>
                <a:lnTo>
                  <a:pt x="7072884" y="1665626"/>
                </a:lnTo>
                <a:lnTo>
                  <a:pt x="7127290" y="1643924"/>
                </a:lnTo>
                <a:lnTo>
                  <a:pt x="7181697" y="1622794"/>
                </a:lnTo>
                <a:lnTo>
                  <a:pt x="7236104" y="1602264"/>
                </a:lnTo>
                <a:lnTo>
                  <a:pt x="7290511" y="1582361"/>
                </a:lnTo>
                <a:lnTo>
                  <a:pt x="7344918" y="1563104"/>
                </a:lnTo>
                <a:lnTo>
                  <a:pt x="7399324" y="1544508"/>
                </a:lnTo>
                <a:lnTo>
                  <a:pt x="7453731" y="1526586"/>
                </a:lnTo>
                <a:lnTo>
                  <a:pt x="7508138" y="1509344"/>
                </a:lnTo>
                <a:lnTo>
                  <a:pt x="7562545" y="1492786"/>
                </a:lnTo>
                <a:lnTo>
                  <a:pt x="7616952" y="1476912"/>
                </a:lnTo>
                <a:lnTo>
                  <a:pt x="7671358" y="1461718"/>
                </a:lnTo>
                <a:lnTo>
                  <a:pt x="7725765" y="1447198"/>
                </a:lnTo>
                <a:lnTo>
                  <a:pt x="7780172" y="1433342"/>
                </a:lnTo>
                <a:lnTo>
                  <a:pt x="7834579" y="1420140"/>
                </a:lnTo>
                <a:lnTo>
                  <a:pt x="7888986" y="1407576"/>
                </a:lnTo>
                <a:lnTo>
                  <a:pt x="7943392" y="1395636"/>
                </a:lnTo>
                <a:lnTo>
                  <a:pt x="7997799" y="1384302"/>
                </a:lnTo>
                <a:lnTo>
                  <a:pt x="8052206" y="1373557"/>
                </a:lnTo>
                <a:lnTo>
                  <a:pt x="8106613" y="1363380"/>
                </a:lnTo>
                <a:lnTo>
                  <a:pt x="8161020" y="1353752"/>
                </a:lnTo>
                <a:lnTo>
                  <a:pt x="8215426" y="1344652"/>
                </a:lnTo>
                <a:lnTo>
                  <a:pt x="8269833" y="1336060"/>
                </a:lnTo>
                <a:lnTo>
                  <a:pt x="8324240" y="1327953"/>
                </a:lnTo>
                <a:lnTo>
                  <a:pt x="8378647" y="1320312"/>
                </a:lnTo>
                <a:lnTo>
                  <a:pt x="8433054" y="1313114"/>
                </a:lnTo>
                <a:lnTo>
                  <a:pt x="8487460" y="1306340"/>
                </a:lnTo>
                <a:lnTo>
                  <a:pt x="8541867" y="1299968"/>
                </a:lnTo>
                <a:lnTo>
                  <a:pt x="8596274" y="1293979"/>
                </a:lnTo>
                <a:lnTo>
                  <a:pt x="8650681" y="1288352"/>
                </a:lnTo>
                <a:lnTo>
                  <a:pt x="8705088" y="1283071"/>
                </a:lnTo>
                <a:lnTo>
                  <a:pt x="8759494" y="1278114"/>
                </a:lnTo>
                <a:lnTo>
                  <a:pt x="8813901" y="1273466"/>
                </a:lnTo>
                <a:lnTo>
                  <a:pt x="8868308" y="1269109"/>
                </a:lnTo>
                <a:lnTo>
                  <a:pt x="8922715" y="1265027"/>
                </a:lnTo>
                <a:lnTo>
                  <a:pt x="8977122" y="1261203"/>
                </a:lnTo>
                <a:lnTo>
                  <a:pt x="9031528" y="1257623"/>
                </a:lnTo>
                <a:lnTo>
                  <a:pt x="9085935" y="1254273"/>
                </a:lnTo>
                <a:lnTo>
                  <a:pt x="9140342" y="1251139"/>
                </a:lnTo>
                <a:lnTo>
                  <a:pt x="9194749" y="1248208"/>
                </a:lnTo>
                <a:lnTo>
                  <a:pt x="9249156" y="1245467"/>
                </a:lnTo>
                <a:lnTo>
                  <a:pt x="9303562" y="1242905"/>
                </a:lnTo>
                <a:lnTo>
                  <a:pt x="9357969" y="1240511"/>
                </a:lnTo>
                <a:lnTo>
                  <a:pt x="9412376" y="1238275"/>
                </a:lnTo>
                <a:lnTo>
                  <a:pt x="9466783" y="1236186"/>
                </a:lnTo>
                <a:lnTo>
                  <a:pt x="9521190" y="1234235"/>
                </a:lnTo>
                <a:lnTo>
                  <a:pt x="9575596" y="1232414"/>
                </a:lnTo>
                <a:lnTo>
                  <a:pt x="9630003" y="1230714"/>
                </a:lnTo>
                <a:lnTo>
                  <a:pt x="9684410" y="1229127"/>
                </a:lnTo>
                <a:lnTo>
                  <a:pt x="9738817" y="1227647"/>
                </a:lnTo>
                <a:lnTo>
                  <a:pt x="9793224" y="1226265"/>
                </a:lnTo>
                <a:lnTo>
                  <a:pt x="9847630" y="1224977"/>
                </a:lnTo>
                <a:lnTo>
                  <a:pt x="9902037" y="1223775"/>
                </a:lnTo>
                <a:lnTo>
                  <a:pt x="9956444" y="1222654"/>
                </a:lnTo>
                <a:lnTo>
                  <a:pt x="10010851" y="1221608"/>
                </a:lnTo>
                <a:lnTo>
                  <a:pt x="10065258" y="1220634"/>
                </a:lnTo>
                <a:lnTo>
                  <a:pt x="10119664" y="1219725"/>
                </a:lnTo>
                <a:lnTo>
                  <a:pt x="10174071" y="1218878"/>
                </a:lnTo>
                <a:lnTo>
                  <a:pt x="10228478" y="1218088"/>
                </a:lnTo>
                <a:lnTo>
                  <a:pt x="10282885" y="1217352"/>
                </a:lnTo>
                <a:lnTo>
                  <a:pt x="10337292" y="1216666"/>
                </a:lnTo>
                <a:lnTo>
                  <a:pt x="10391698" y="1216026"/>
                </a:lnTo>
                <a:lnTo>
                  <a:pt x="10446105" y="1215431"/>
                </a:lnTo>
                <a:lnTo>
                  <a:pt x="10500512" y="1214875"/>
                </a:lnTo>
                <a:lnTo>
                  <a:pt x="10554919" y="1214358"/>
                </a:lnTo>
                <a:lnTo>
                  <a:pt x="10609326" y="1213876"/>
                </a:lnTo>
                <a:lnTo>
                  <a:pt x="10663732" y="1213427"/>
                </a:lnTo>
                <a:lnTo>
                  <a:pt x="10718139" y="1213009"/>
                </a:lnTo>
                <a:lnTo>
                  <a:pt x="10772546" y="1212619"/>
                </a:lnTo>
                <a:lnTo>
                  <a:pt x="10826953" y="1212256"/>
                </a:lnTo>
                <a:lnTo>
                  <a:pt x="10881360" y="1211917"/>
                </a:lnTo>
              </a:path>
            </a:pathLst>
          </a:custGeom>
          <a:noFill/>
          <a:ln w="381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22960" y="4023360"/>
            <a:ext cx="1088136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188720"/>
            <a:ext cx="0" cy="283464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 rot="16200000">
            <a:off x="45720" y="249174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Expectations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0" y="4041648"/>
            <a:ext cx="9144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Time 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3977" y="1234440"/>
            <a:ext cx="0" cy="27889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22622" y="1234440"/>
            <a:ext cx="0" cy="27889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54826" y="1234440"/>
            <a:ext cx="0" cy="27889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83980" y="1234440"/>
            <a:ext cx="0" cy="278892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" y="4251960"/>
            <a:ext cx="1741017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1 · Innovation 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4709160"/>
            <a:ext cx="1686153" cy="1645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{{phase1: technology (years to plateau)}}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3977" y="4251960"/>
            <a:ext cx="1958644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2 · Peak of inflated expectations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1409" y="4709160"/>
            <a:ext cx="1903780" cy="1645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{{phase2: technology (years to plateau)}}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2622" y="4251960"/>
            <a:ext cx="1632203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3 · Trough of disillusionment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0054" y="4709160"/>
            <a:ext cx="1577339" cy="1645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{{phase3: technology (years to plateau)}}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4826" y="4251960"/>
            <a:ext cx="2829153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4 · Slope of enlightenment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2258" y="4709160"/>
            <a:ext cx="2774289" cy="1645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{{phase4: technology (years to plateau)}}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3980" y="4251960"/>
            <a:ext cx="27203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5 · Plateau of productivity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1412" y="4709160"/>
            <a:ext cx="2665476" cy="1645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{{phase5: technology (years to plateau)}}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473952"/>
            <a:ext cx="10881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Years to plateau: under 2 · 2–5 · 5–10 · over 10 · obsolete before plateau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