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TAM / SAM / SOM · MARKET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market, year}}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325880"/>
            <a:ext cx="5120640" cy="5120640"/>
          </a:xfrm>
          <a:prstGeom prst="ellipse">
            <a:avLst/>
          </a:prstGeom>
          <a:solidFill>
            <a:srgbClr val="E8F0F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40180" y="3017520"/>
            <a:ext cx="3429000" cy="3429000"/>
          </a:xfrm>
          <a:prstGeom prst="ellipse">
            <a:avLst/>
          </a:prstGeom>
          <a:solidFill>
            <a:srgbClr val="B9CFF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63140" y="4663440"/>
            <a:ext cx="1783080" cy="178308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20" y="1600200"/>
            <a:ext cx="25603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600" b="1">
                <a:solidFill>
                  <a:srgbClr val="262B33"/>
                </a:solidFill>
                <a:latin typeface="Arial"/>
              </a:rPr>
              <a:t>TAM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20" y="1965960"/>
            <a:ext cx="25603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200" b="1">
                <a:solidFill>
                  <a:srgbClr val="262B33"/>
                </a:solidFill>
                <a:latin typeface="Arial"/>
              </a:rPr>
              <a:t>{{tam: size and unit}}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20" y="3291839"/>
            <a:ext cx="25603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600" b="1">
                <a:solidFill>
                  <a:srgbClr val="262B33"/>
                </a:solidFill>
                <a:latin typeface="Arial"/>
              </a:rPr>
              <a:t>SAM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20" y="3657599"/>
            <a:ext cx="25603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200" b="1">
                <a:solidFill>
                  <a:srgbClr val="262B33"/>
                </a:solidFill>
                <a:latin typeface="Arial"/>
              </a:rPr>
              <a:t>{{sam: size and unit}}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5074920"/>
            <a:ext cx="1508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00300" y="5440680"/>
            <a:ext cx="150876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{{som: size and unit}}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109728" cy="1188720"/>
          </a:xfrm>
          <a:prstGeom prst="rect">
            <a:avLst/>
          </a:prstGeom>
          <a:solidFill>
            <a:srgbClr val="D6E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34440"/>
            <a:ext cx="537667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TAM · Total Addressable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545336"/>
            <a:ext cx="5376672" cy="8778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{{tam_how: market definition and counting basis}}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514600"/>
            <a:ext cx="109728" cy="1188720"/>
          </a:xfrm>
          <a:prstGeom prst="rect">
            <a:avLst/>
          </a:prstGeom>
          <a:solidFill>
            <a:srgbClr val="B9C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514600"/>
            <a:ext cx="537667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SAM · Serviceable Available Market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825496"/>
            <a:ext cx="5376672" cy="8778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{{sam_how: geography, segments and channels served}}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794760"/>
            <a:ext cx="109728" cy="118872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794760"/>
            <a:ext cx="5376672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SOM · Serviceable Obtainable Market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4105656"/>
            <a:ext cx="5376672" cy="8778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{{som_how: realistic share and its basis}}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5074920"/>
            <a:ext cx="5559552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Sources and assumptions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5422392"/>
            <a:ext cx="5559552" cy="1024127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{{sources: data sources and main assumptions}}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