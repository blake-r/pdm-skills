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gantt_chart_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gantt_chart_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gantt_chart_Microsoft_Excel_Sheet1.xlsx"/></Relationships>
</file>

<file path=ppt/charts/gantt_chart_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Start, day from kickoff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{{task: task name, owner and dependencies}}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Duration, days</c:v>
                </c:pt>
              </c:strCache>
            </c:strRef>
          </c:tx>
          <c:spPr>
            <a:solidFill>
              <a:srgbClr val="2F6FDE"/>
            </a:solidFill>
          </c:spPr>
          <c:cat>
            <c:strRef>
              <c:f>Sheet1!$A$2:$A$2</c:f>
              <c:strCache>
                <c:ptCount val="1"/>
                <c:pt idx="0">
                  <c:v>{{task: task name, owner and dependencies}}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Milestone</c:v>
                </c:pt>
              </c:strCache>
            </c:strRef>
          </c:tx>
          <c:spPr>
            <a:solidFill>
              <a:srgbClr val="262B33"/>
            </a:solidFill>
          </c:spPr>
          <c:cat>
            <c:strRef>
              <c:f>Sheet1!$A$2:$A$2</c:f>
              <c:strCache>
                <c:ptCount val="1"/>
                <c:pt idx="0">
                  <c:v>{{task: task name, owner and dependencies}}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gapWidth val="60"/>
        <c:overlap val="100"/>
        <c:axId val="500000"/>
        <c:axId val="500001"/>
      </c:barChart>
      <c:catAx>
        <c:axId val="500000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crossAx val="500001"/>
        <c:crosses val="autoZero"/>
        <c:auto val="1"/>
        <c:lblAlgn val="ctr"/>
        <c:lblOffset val="100"/>
        <c:noMultiLvlLbl val="0"/>
      </c:catAx>
      <c:valAx>
        <c:axId val="500001"/>
        <c:scaling>
          <c:min val="0.0"/>
        </c:scaling>
        <c:delete val="0"/>
        <c:axPos val="b"/>
        <c:majorGridlines>
          <c:spPr>
            <a:ln>
              <a:solidFill>
                <a:srgbClr val="C9CED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500000"/>
        <c:crosses val="autoZero"/>
        <c:majorUnit val="7.0"/>
      </c:valAx>
    </c:plotArea>
    <c:dispBlanksAs val="gap"/>
  </c:chart>
  <c:txPr>
    <a:bodyPr/>
    <a:lstStyle/>
    <a:p>
      <a:pPr>
        <a:defRPr sz="1100">
          <a:solidFill>
            <a:srgbClr val="262B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gantt_chart_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GANTT 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project and planning horizon}}</a:t>
            </a:r>
          </a:p>
        </p:txBody>
      </p:sp>
      <p:graphicFrame>
        <p:nvGraphicFramePr>
          <p:cNvPr id="4" name="gantt"/>
          <p:cNvGraphicFramePr>
            <a:graphicFrameLocks noGrp="1"/>
          </p:cNvGraphicFramePr>
          <p:nvPr/>
        </p:nvGraphicFramePr>
        <p:xfrm>
          <a:off x="365760" y="1188720"/>
          <a:ext cx="786384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263640"/>
            <a:ext cx="7772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Scale — days from kickoff. Start: {{start_date: project start date}}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8458200" y="118872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1508760"/>
            <a:ext cx="3291840" cy="12801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{{milestones: key dates, one per line}}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288036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Dependencies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3200400"/>
            <a:ext cx="3291840" cy="1508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{{dependencies: tasks that wait for others, critical chain}}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480060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Schedule risks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5120640"/>
            <a:ext cx="3291840" cy="14630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{{risks: what could shift the plan, and the buffer}}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