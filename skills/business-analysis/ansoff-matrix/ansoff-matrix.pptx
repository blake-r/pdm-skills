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4712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F6FDE"/>
                </a:solidFill>
                <a:latin typeface="Arial"/>
              </a:rPr>
              <a:t>ANSOFF MATRIX · PRODUCT-MARKET GROWTH GRID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1124712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2200" b="1">
                <a:solidFill>
                  <a:srgbClr val="262B33"/>
                </a:solidFill>
                <a:latin typeface="Arial"/>
              </a:rPr>
              <a:t>{{title: company, business, planning horizon}}</a:t>
            </a:r>
          </a:p>
        </p:txBody>
      </p:sp>
      <p:sp>
        <p:nvSpPr>
          <p:cNvPr id="4" name="Rectangle 3"/>
          <p:cNvSpPr/>
          <p:nvPr/>
        </p:nvSpPr>
        <p:spPr>
          <a:xfrm>
            <a:off x="1719072" y="1188720"/>
            <a:ext cx="3337560" cy="411480"/>
          </a:xfrm>
          <a:prstGeom prst="rect">
            <a:avLst/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Existing products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129784" y="1188720"/>
            <a:ext cx="3337560" cy="411480"/>
          </a:xfrm>
          <a:prstGeom prst="rect">
            <a:avLst/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New products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73352"/>
            <a:ext cx="1188720" cy="2194560"/>
          </a:xfrm>
          <a:prstGeom prst="rect">
            <a:avLst/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Existing markets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941064"/>
            <a:ext cx="1188720" cy="2194560"/>
          </a:xfrm>
          <a:prstGeom prst="rect">
            <a:avLst/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New markets</a:t>
            </a:r>
          </a:p>
        </p:txBody>
      </p:sp>
      <p:sp>
        <p:nvSpPr>
          <p:cNvPr id="8" name="Rectangle 7"/>
          <p:cNvSpPr/>
          <p:nvPr/>
        </p:nvSpPr>
        <p:spPr>
          <a:xfrm>
            <a:off x="1719072" y="1673352"/>
            <a:ext cx="3337560" cy="2194560"/>
          </a:xfrm>
          <a:prstGeom prst="rect">
            <a:avLst/>
          </a:prstGeom>
          <a:solidFill>
            <a:srgbClr val="E8F0FC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0" bIns="54864"/>
          <a:lstStyle/>
          <a:p>
            <a:pPr algn="l"/>
            <a:r>
              <a:rPr sz="1100" b="0">
                <a:solidFill>
                  <a:srgbClr val="262B33"/>
                </a:solidFill>
                <a:latin typeface="Arial"/>
              </a:rPr>
              <a:t>{{pen: how to sell more of existing products to existing customers}}</a:t>
            </a:r>
          </a:p>
        </p:txBody>
      </p:sp>
      <p:sp>
        <p:nvSpPr>
          <p:cNvPr id="9" name="Rectangle 8"/>
          <p:cNvSpPr/>
          <p:nvPr/>
        </p:nvSpPr>
        <p:spPr>
          <a:xfrm>
            <a:off x="1792224" y="1709928"/>
            <a:ext cx="3191256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F6FDE"/>
                </a:solidFill>
                <a:latin typeface="Arial"/>
              </a:rPr>
              <a:t>Market penetration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29784" y="1673352"/>
            <a:ext cx="33375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0" bIns="54864"/>
          <a:lstStyle/>
          <a:p>
            <a:pPr algn="l"/>
            <a:r>
              <a:rPr sz="1100" b="0">
                <a:solidFill>
                  <a:srgbClr val="262B33"/>
                </a:solidFill>
                <a:latin typeface="Arial"/>
              </a:rPr>
              <a:t>{{dev_p: new products for existing customers}}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02936" y="1709928"/>
            <a:ext cx="3191256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F6FDE"/>
                </a:solidFill>
                <a:latin typeface="Arial"/>
              </a:rPr>
              <a:t>Product development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19072" y="3941064"/>
            <a:ext cx="33375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0" bIns="54864"/>
          <a:lstStyle/>
          <a:p>
            <a:pPr algn="l"/>
            <a:r>
              <a:rPr sz="1100" b="0">
                <a:solidFill>
                  <a:srgbClr val="262B33"/>
                </a:solidFill>
                <a:latin typeface="Arial"/>
              </a:rPr>
              <a:t>{{dev_m: existing products for new segments, regions or channels}}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92224" y="3977640"/>
            <a:ext cx="3191256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F6FDE"/>
                </a:solidFill>
                <a:latin typeface="Arial"/>
              </a:rPr>
              <a:t>Market development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29784" y="3941064"/>
            <a:ext cx="33375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0" bIns="54864"/>
          <a:lstStyle/>
          <a:p>
            <a:pPr algn="l"/>
            <a:r>
              <a:rPr sz="1100" b="0">
                <a:solidFill>
                  <a:srgbClr val="262B33"/>
                </a:solidFill>
                <a:latin typeface="Arial"/>
              </a:rPr>
              <a:t>{{div: new products for new markets}}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02936" y="3977640"/>
            <a:ext cx="3191256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F6FDE"/>
                </a:solidFill>
                <a:latin typeface="Arial"/>
              </a:rPr>
              <a:t>Diversification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719072" y="6181344"/>
            <a:ext cx="6748272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6B7280"/>
                </a:solidFill>
                <a:latin typeface="Arial"/>
              </a:rPr>
              <a:t>Risk grows from the top left to the bottom right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732520" y="1188720"/>
            <a:ext cx="2999232" cy="2103120"/>
          </a:xfrm>
          <a:prstGeom prst="rect">
            <a:avLst/>
          </a:prstGeom>
          <a:solidFill>
            <a:srgbClr val="E8F0FC"/>
          </a:solidFill>
          <a:ln w="12700">
            <a:solidFill>
              <a:srgbClr val="2F6F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0" bIns="54864"/>
          <a:lstStyle/>
          <a:p>
            <a:pPr algn="l"/>
            <a:r>
              <a:rPr sz="1100" b="0">
                <a:solidFill>
                  <a:srgbClr val="262B33"/>
                </a:solidFill>
                <a:latin typeface="Arial"/>
              </a:rPr>
              <a:t>{{choice: quadrant chosen and why}}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05672" y="1225296"/>
            <a:ext cx="2852927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62B33"/>
                </a:solidFill>
                <a:latin typeface="Arial"/>
              </a:rPr>
              <a:t>Chosen direction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732520" y="3383280"/>
            <a:ext cx="2999232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0" bIns="54864"/>
          <a:lstStyle/>
          <a:p>
            <a:pPr algn="l"/>
            <a:r>
              <a:rPr sz="1100" b="0">
                <a:solidFill>
                  <a:srgbClr val="262B33"/>
                </a:solidFill>
                <a:latin typeface="Arial"/>
              </a:rPr>
              <a:t>{{decision: what was decided, owner, date, check}}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805672" y="3419856"/>
            <a:ext cx="2852927" cy="29260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62B33"/>
                </a:solidFill>
                <a:latin typeface="Arial"/>
              </a:rPr>
              <a:t>Decision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