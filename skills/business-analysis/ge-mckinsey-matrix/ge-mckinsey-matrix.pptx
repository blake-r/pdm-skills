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GE–McKINSEY MATRIX · NINE-BOX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 or portfolio, date, who scored}}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100" b="1">
                <a:solidFill>
                  <a:srgbClr val="6B7280"/>
                </a:solidFill>
                <a:latin typeface="Arial"/>
              </a:rPr>
              <a:t>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100" b="1">
                <a:solidFill>
                  <a:srgbClr val="6B7280"/>
                </a:solidFill>
                <a:latin typeface="Arial"/>
              </a:rPr>
              <a:t>Medium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023360"/>
            <a:ext cx="822960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100" b="1">
                <a:solidFill>
                  <a:srgbClr val="6B7280"/>
                </a:solidFill>
                <a:latin typeface="Arial"/>
              </a:rPr>
              <a:t>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5440680"/>
            <a:ext cx="1737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6B7280"/>
                </a:solidFill>
                <a:latin typeface="Arial"/>
              </a:rPr>
              <a:t>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440680"/>
            <a:ext cx="1737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6B7280"/>
                </a:solidFill>
                <a:latin typeface="Arial"/>
              </a:rPr>
              <a:t>Medium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5440680"/>
            <a:ext cx="1737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6B7280"/>
                </a:solidFill>
                <a:latin typeface="Arial"/>
              </a:rP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188720"/>
            <a:ext cx="1682495" cy="1362456"/>
          </a:xfrm>
          <a:prstGeom prst="rect">
            <a:avLst/>
          </a:prstGeom>
          <a:solidFill>
            <a:srgbClr val="FAF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118872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Selective, earnings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46304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{{hl: units in this cell, attractiveness / strength}}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188720"/>
            <a:ext cx="1682495" cy="1362456"/>
          </a:xfrm>
          <a:prstGeom prst="rect">
            <a:avLst/>
          </a:prstGeom>
          <a:solidFill>
            <a:srgbClr val="E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18872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Invest, grow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46304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{{hm: units in this cell, attractiveness / strength}}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188720"/>
            <a:ext cx="1682495" cy="1362456"/>
          </a:xfrm>
          <a:prstGeom prst="rect">
            <a:avLst/>
          </a:prstGeom>
          <a:solidFill>
            <a:srgbClr val="E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79" y="118872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Invest, grow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146304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{{hh: units in this cell, attractiveness / strength}}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2606040"/>
            <a:ext cx="1682495" cy="1362456"/>
          </a:xfrm>
          <a:prstGeom prst="rect">
            <a:avLst/>
          </a:prstGeom>
          <a:solidFill>
            <a:srgbClr val="F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60604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Harvest, divest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288036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{{ml: units in this cell, attractiveness / strength}}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606040"/>
            <a:ext cx="1682495" cy="1362456"/>
          </a:xfrm>
          <a:prstGeom prst="rect">
            <a:avLst/>
          </a:prstGeom>
          <a:solidFill>
            <a:srgbClr val="FAF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0" y="260604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Selective, earnings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88036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{{mm: units in this cell, attractiveness / strength}}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2606040"/>
            <a:ext cx="1682495" cy="1362456"/>
          </a:xfrm>
          <a:prstGeom prst="rect">
            <a:avLst/>
          </a:prstGeom>
          <a:solidFill>
            <a:srgbClr val="E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79" y="260604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Invest, grow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79" y="288036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{{mh: units in this cell, attractiveness / strength}}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4023360"/>
            <a:ext cx="1682495" cy="1362456"/>
          </a:xfrm>
          <a:prstGeom prst="rect">
            <a:avLst/>
          </a:prstGeom>
          <a:solidFill>
            <a:srgbClr val="F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80160" y="402336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Harvest, divest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429768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{{ll: units in this cell, attractiveness / strength}}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4023360"/>
            <a:ext cx="1682495" cy="1362456"/>
          </a:xfrm>
          <a:prstGeom prst="rect">
            <a:avLst/>
          </a:prstGeom>
          <a:solidFill>
            <a:srgbClr val="F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520" y="402336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Harvest, divest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29768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{{lm: units in this cell, attractiveness / strength}}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79" y="4023360"/>
            <a:ext cx="1682495" cy="1362456"/>
          </a:xfrm>
          <a:prstGeom prst="rect">
            <a:avLst/>
          </a:prstGeom>
          <a:solidFill>
            <a:srgbClr val="FAF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4879" y="4023360"/>
            <a:ext cx="168249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6B7280"/>
                </a:solidFill>
                <a:latin typeface="Arial"/>
              </a:rPr>
              <a:t>Selective, earnings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79" y="4297680"/>
            <a:ext cx="1682495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{{lh: units in this cell, attractiveness / strength}}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5806440"/>
            <a:ext cx="521207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Strength of the unit 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914400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↑ Attractiveness of the industry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1188720"/>
            <a:ext cx="5010912" cy="10058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75703" y="1207008"/>
            <a:ext cx="4901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Attractiveness: factors, weights, scores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75703" y="1463040"/>
            <a:ext cx="4901184" cy="6949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{{attr: factors with weights; unit scores}}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2286000"/>
            <a:ext cx="5010912" cy="10058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75703" y="2304288"/>
            <a:ext cx="4901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Strength: factors, weights, scores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75703" y="2560320"/>
            <a:ext cx="4901184" cy="6949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{{strength: factors with weights; unit scores}}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0840" y="3383280"/>
            <a:ext cx="5010912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75703" y="3401568"/>
            <a:ext cx="4901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Scale and cut-offs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75703" y="3657600"/>
            <a:ext cx="4901184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{{scale: rating scale, direction, cut-offs fixed before scoring}}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4206240"/>
            <a:ext cx="5010912" cy="11887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75703" y="4224527"/>
            <a:ext cx="4901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Decision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5703" y="4480559"/>
            <a:ext cx="4901184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posture and money per unit, review date}}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5486400"/>
            <a:ext cx="5010912" cy="10058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75703" y="5504688"/>
            <a:ext cx="4901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Risks and limitations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75703" y="5760720"/>
            <a:ext cx="4901184" cy="6949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{{risk: what could invalidate the placement}}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