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bcg_matrix_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bcg_matrix_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bcg_matrix_Microsoft_Excel_Sheet1.xlsx"/></Relationships>
</file>

<file path=ppt/charts/bcg_matrix_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>
        <c:manualLayout>
          <c:layoutTarget val="inner"/>
          <c:xMode val="edge"/>
          <c:yMode val="edge"/>
          <c:x val="0.1"/>
          <c:y val="0.03"/>
          <c:w val="0.87"/>
          <c:h val="0.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-10</c:v>
                </c:pt>
                <c:pt idx="1">
                  <c:v>30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Growth boundary</c:v>
                </c:pt>
              </c:strCache>
            </c:strRef>
          </c:tx>
          <c:spPr>
            <a:ln w="15875">
              <a:solidFill>
                <a:srgbClr val="6B7280"/>
              </a:solidFill>
            </a:ln>
          </c:spPr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0.1</c:v>
                </c:pt>
                <c:pt idx="1">
                  <c:v>10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Stars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Sheet1!$A$10:$A$10</c:f>
              <c:numCache>
                <c:formatCode>General</c:formatCode>
                <c:ptCount val="1"/>
                <c:pt idx="0">
                  <c:v>0.3125</c:v>
                </c:pt>
              </c:numCache>
            </c:numRef>
          </c:xVal>
          <c:yVal>
            <c:numRef>
              <c:f>Sheet1!$B$10:$B$10</c:f>
              <c:numCache>
                <c:formatCode>General</c:formatCode>
                <c:ptCount val="1"/>
                <c:pt idx="0">
                  <c:v>28.5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Sheet1!$B$12</c:f>
              <c:strCache>
                <c:ptCount val="1"/>
                <c:pt idx="0">
                  <c:v>Question marks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Sheet1!$A$13:$A$13</c:f>
              <c:numCache>
                <c:formatCode>General</c:formatCode>
                <c:ptCount val="1"/>
                <c:pt idx="0">
                  <c:v>3.125</c:v>
                </c:pt>
              </c:numCache>
            </c:numRef>
          </c:xVal>
          <c:yVal>
            <c:numRef>
              <c:f>Sheet1!$B$13:$B$13</c:f>
              <c:numCache>
                <c:formatCode>General</c:formatCode>
                <c:ptCount val="1"/>
                <c:pt idx="0">
                  <c:v>28.5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Sheet1!$B$15</c:f>
              <c:strCache>
                <c:ptCount val="1"/>
                <c:pt idx="0">
                  <c:v>Cash cows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Sheet1!$A$16:$A$16</c:f>
              <c:numCache>
                <c:formatCode>General</c:formatCode>
                <c:ptCount val="1"/>
                <c:pt idx="0">
                  <c:v>0.3125</c:v>
                </c:pt>
              </c:numCache>
            </c:numRef>
          </c:xVal>
          <c:yVal>
            <c:numRef>
              <c:f>Sheet1!$B$16:$B$16</c:f>
              <c:numCache>
                <c:formatCode>General</c:formatCode>
                <c:ptCount val="1"/>
                <c:pt idx="0">
                  <c:v>-8.5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Sheet1!$B$18</c:f>
              <c:strCache>
                <c:ptCount val="1"/>
                <c:pt idx="0">
                  <c:v>Dogs</c:v>
                </c:pt>
              </c:strCache>
            </c:strRef>
          </c:tx>
          <c:spPr>
            <a:ln w="47625">
              <a:noFill/>
            </a:ln>
          </c:spPr>
          <c:marker>
            <c:symbol val="none"/>
          </c:marker>
          <c:dLbls>
            <c:txPr>
              <a:bodyPr/>
              <a:lstStyle/>
              <a:p>
                <a:pPr>
                  <a:defRPr sz="1200" b="1">
                    <a:solidFill>
                      <a:srgbClr val="6B728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Sheet1!$A$19:$A$19</c:f>
              <c:numCache>
                <c:formatCode>General</c:formatCode>
                <c:ptCount val="1"/>
                <c:pt idx="0">
                  <c:v>3.125</c:v>
                </c:pt>
              </c:numCache>
            </c:numRef>
          </c:xVal>
          <c:yVal>
            <c:numRef>
              <c:f>Sheet1!$B$19:$B$19</c:f>
              <c:numCache>
                <c:formatCode>General</c:formatCode>
                <c:ptCount val="1"/>
                <c:pt idx="0">
                  <c:v>-8.5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Sheet1!$B$21</c:f>
              <c:strCache>
                <c:ptCount val="1"/>
                <c:pt idx="0">
                  <c:v>Unit A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4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Sheet1!$A$22:$A$22</c:f>
              <c:numCache>
                <c:formatCode>General</c:formatCode>
                <c:ptCount val="1"/>
                <c:pt idx="0">
                  <c:v>0.4</c:v>
                </c:pt>
              </c:numCache>
            </c:numRef>
          </c:xVal>
          <c:yVal>
            <c:numRef>
              <c:f>Sheet1!$B$22:$B$22</c:f>
              <c:numCache>
                <c:formatCode>General</c:formatCode>
                <c:ptCount val="1"/>
                <c:pt idx="0">
                  <c:v>18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Sheet1!$B$24</c:f>
              <c:strCache>
                <c:ptCount val="1"/>
                <c:pt idx="0">
                  <c:v>Unit B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4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Sheet1!$A$25:$A$25</c:f>
              <c:numCache>
                <c:formatCode>General</c:formatCode>
                <c:ptCount val="1"/>
                <c:pt idx="0">
                  <c:v>2.5</c:v>
                </c:pt>
              </c:numCache>
            </c:numRef>
          </c:xVal>
          <c:yVal>
            <c:numRef>
              <c:f>Sheet1!$B$25:$B$25</c:f>
              <c:numCache>
                <c:formatCode>General</c:formatCode>
                <c:ptCount val="1"/>
                <c:pt idx="0">
                  <c:v>22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Sheet1!$B$27</c:f>
              <c:strCache>
                <c:ptCount val="1"/>
                <c:pt idx="0">
                  <c:v>Unit C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4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Sheet1!$A$28:$A$28</c:f>
              <c:numCache>
                <c:formatCode>General</c:formatCode>
                <c:ptCount val="1"/>
                <c:pt idx="0">
                  <c:v>0.5555555555555556</c:v>
                </c:pt>
              </c:numCache>
            </c:numRef>
          </c:xVal>
          <c:yVal>
            <c:numRef>
              <c:f>Sheet1!$B$28:$B$28</c:f>
              <c:numCache>
                <c:formatCode>General</c:formatCode>
                <c:ptCount val="1"/>
                <c:pt idx="0">
                  <c:v>3</c:v>
                </c:pt>
              </c:numCache>
            </c:numRef>
          </c:yVal>
          <c:smooth val="0"/>
        </c:ser>
        <c:ser>
          <c:idx val="9"/>
          <c:order val="9"/>
          <c:tx>
            <c:strRef>
              <c:f>Sheet1!$B$30</c:f>
              <c:strCache>
                <c:ptCount val="1"/>
                <c:pt idx="0">
                  <c:v>Unit D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24"/>
            <c:spPr>
              <a:solidFill>
                <a:srgbClr val="2F6FDE"/>
              </a:solidFill>
              <a:ln>
                <a:solidFill>
                  <a:srgbClr val="FFFFFF"/>
                </a:solidFill>
              </a:ln>
            </c:spPr>
          </c:marker>
          <c:dLbls>
            <c:txPr>
              <a:bodyPr/>
              <a:lstStyle/>
              <a:p>
                <a:pPr>
                  <a:defRPr sz="1100" b="0">
                    <a:solidFill>
                      <a:srgbClr val="262B33"/>
                    </a:solidFill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1"/>
            <c:showPercent val="0"/>
            <c:showBubbleSize val="0"/>
            <c:showLeaderLines val="1"/>
          </c:dLbls>
          <c:xVal>
            <c:numRef>
              <c:f>Sheet1!$A$31:$A$31</c:f>
              <c:numCache>
                <c:formatCode>General</c:formatCode>
                <c:ptCount val="1"/>
                <c:pt idx="0">
                  <c:v>3.3333333333333335</c:v>
                </c:pt>
              </c:numCache>
            </c:numRef>
          </c:xVal>
          <c:yVal>
            <c:numRef>
              <c:f>Sheet1!$B$31:$B$31</c:f>
              <c:numCache>
                <c:formatCode>General</c:formatCode>
                <c:ptCount val="1"/>
                <c:pt idx="0">
                  <c:v>1</c:v>
                </c:pt>
              </c:numCache>
            </c:numRef>
          </c:yVal>
          <c:smooth val="0"/>
        </c:ser>
        <c:axId val="500000"/>
        <c:axId val="500001"/>
      </c:scatterChart>
      <c:valAx>
        <c:axId val="500000"/>
        <c:scaling>
          <c:logBase val="10"/>
          <c:orientation val="minMax"/>
          <c:max val="10.0"/>
          <c:min val="0.1"/>
        </c:scaling>
        <c:delete val="0"/>
        <c:axPos val="b"/>
        <c:numFmt formatCode="0.0#" sourceLinked="0"/>
        <c:majorTickMark val="out"/>
        <c:minorTickMark val="none"/>
        <c:tickLblPos val="none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1"/>
        <c:crossesAt val="-10"/>
        <c:crossBetween val="midCat"/>
        <c:majorUnit val="10.0"/>
      </c:valAx>
      <c:valAx>
        <c:axId val="500001"/>
        <c:scaling>
          <c:orientation val="minMax"/>
          <c:max val="30.0"/>
          <c:min val="-10.0"/>
        </c:scaling>
        <c:delete val="0"/>
        <c:axPos val="l"/>
        <c:title>
          <c:tx>
            <c:rich>
              <a:bodyPr/>
              <a:lstStyle/>
              <a:p>
                <a:r>
                  <a:rPr sz="1100" b="0">
                    <a:solidFill>
                      <a:srgbClr val="6B7280"/>
                    </a:solidFill>
                    <a:latin typeface="Arial"/>
                  </a:rPr>
                  <a:t>Market growth, % per year →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>
            <a:solidFill>
              <a:srgbClr val="C9CED6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500000"/>
        <c:crossesAt val="0.1"/>
        <c:crossBetween val="midCat"/>
        <c:majorUnit val="10.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262B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bcg_matrix_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BCG MATRIX · GROWTH-SHARE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company, portfolio, year}}</a:t>
            </a:r>
          </a:p>
        </p:txBody>
      </p:sp>
      <p:graphicFrame>
        <p:nvGraphicFramePr>
          <p:cNvPr id="4" name="matrix" descr="invert_x"/>
          <p:cNvGraphicFramePr>
            <a:graphicFrameLocks noGrp="1"/>
          </p:cNvGraphicFramePr>
          <p:nvPr/>
        </p:nvGraphicFramePr>
        <p:xfrm>
          <a:off x="365760" y="1188720"/>
          <a:ext cx="786384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86384" y="5918911"/>
            <a:ext cx="7315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10×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7154" y="5918911"/>
            <a:ext cx="7315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1×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7924" y="5918911"/>
            <a:ext cx="731520" cy="25603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000" b="0">
                <a:solidFill>
                  <a:srgbClr val="6B7280"/>
                </a:solidFill>
                <a:latin typeface="Arial"/>
              </a:rPr>
              <a:t>0,1×</a:t>
            </a:r>
          </a:p>
        </p:txBody>
      </p:sp>
      <p:sp>
        <p:nvSpPr>
          <p:cNvPr id="8" name="Rectangle 7"/>
          <p:cNvSpPr/>
          <p:nvPr/>
        </p:nvSpPr>
        <p:spPr>
          <a:xfrm>
            <a:off x="1152144" y="6174943"/>
            <a:ext cx="68415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100" b="0">
                <a:solidFill>
                  <a:srgbClr val="6B7280"/>
                </a:solidFill>
                <a:latin typeface="Arial"/>
              </a:rPr>
              <a:t>← Relative market share, times the largest competitor (log scale)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58200" y="118872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Markets and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150876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{{scales: market data, growth boundary, circle size}}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58200" y="288036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58200" y="3200400"/>
            <a:ext cx="3291840" cy="169164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we fund, hold, withdraw from or sell}}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4983480"/>
            <a:ext cx="32918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Cash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58200" y="5303520"/>
            <a:ext cx="3291840" cy="128016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{{cash: where the cash comes from and goes}}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