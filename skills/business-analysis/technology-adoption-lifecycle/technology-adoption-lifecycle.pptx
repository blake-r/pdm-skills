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TECHNOLOGY ADOPTION LIFECYCLE · THE CHASM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 or technology, market, date}}</a:t>
            </a:r>
          </a:p>
        </p:txBody>
      </p:sp>
      <p:sp>
        <p:nvSpPr>
          <p:cNvPr id="4" name="Freeform 3"/>
          <p:cNvSpPr/>
          <p:nvPr/>
        </p:nvSpPr>
        <p:spPr>
          <a:xfrm>
            <a:off x="548640" y="1300734"/>
            <a:ext cx="11064240" cy="2104623"/>
          </a:xfrm>
          <a:custGeom>
            <a:avLst/>
            <a:gdLst/>
            <a:ahLst/>
            <a:cxnLst/>
            <a:rect l="l" t="t" r="r" b="b"/>
            <a:pathLst>
              <a:path w="11064240" h="2104623">
                <a:moveTo>
                  <a:pt x="0" y="2104623"/>
                </a:moveTo>
                <a:lnTo>
                  <a:pt x="46101" y="2102789"/>
                </a:lnTo>
                <a:lnTo>
                  <a:pt x="92202" y="2100831"/>
                </a:lnTo>
                <a:lnTo>
                  <a:pt x="138303" y="2098740"/>
                </a:lnTo>
                <a:lnTo>
                  <a:pt x="184404" y="2096510"/>
                </a:lnTo>
                <a:lnTo>
                  <a:pt x="230505" y="2094133"/>
                </a:lnTo>
                <a:lnTo>
                  <a:pt x="276606" y="2091601"/>
                </a:lnTo>
                <a:lnTo>
                  <a:pt x="322707" y="2088905"/>
                </a:lnTo>
                <a:lnTo>
                  <a:pt x="368808" y="2086038"/>
                </a:lnTo>
                <a:lnTo>
                  <a:pt x="414909" y="2082991"/>
                </a:lnTo>
                <a:lnTo>
                  <a:pt x="461009" y="2079753"/>
                </a:lnTo>
                <a:lnTo>
                  <a:pt x="507111" y="2076317"/>
                </a:lnTo>
                <a:lnTo>
                  <a:pt x="553212" y="2072672"/>
                </a:lnTo>
                <a:lnTo>
                  <a:pt x="599313" y="2068809"/>
                </a:lnTo>
                <a:lnTo>
                  <a:pt x="645413" y="2064716"/>
                </a:lnTo>
                <a:lnTo>
                  <a:pt x="691515" y="2060385"/>
                </a:lnTo>
                <a:lnTo>
                  <a:pt x="737616" y="2055803"/>
                </a:lnTo>
                <a:lnTo>
                  <a:pt x="783717" y="2050961"/>
                </a:lnTo>
                <a:lnTo>
                  <a:pt x="829817" y="2045847"/>
                </a:lnTo>
                <a:lnTo>
                  <a:pt x="875919" y="2040449"/>
                </a:lnTo>
                <a:lnTo>
                  <a:pt x="922020" y="2034756"/>
                </a:lnTo>
                <a:lnTo>
                  <a:pt x="968121" y="2028756"/>
                </a:lnTo>
                <a:lnTo>
                  <a:pt x="1014221" y="2022438"/>
                </a:lnTo>
                <a:lnTo>
                  <a:pt x="1060323" y="2015788"/>
                </a:lnTo>
                <a:lnTo>
                  <a:pt x="1106424" y="2008796"/>
                </a:lnTo>
                <a:lnTo>
                  <a:pt x="1152525" y="2001448"/>
                </a:lnTo>
                <a:lnTo>
                  <a:pt x="1198625" y="1993732"/>
                </a:lnTo>
                <a:lnTo>
                  <a:pt x="1244727" y="1985636"/>
                </a:lnTo>
                <a:lnTo>
                  <a:pt x="1290828" y="1977147"/>
                </a:lnTo>
                <a:lnTo>
                  <a:pt x="1336929" y="1968253"/>
                </a:lnTo>
                <a:lnTo>
                  <a:pt x="1383029" y="1958942"/>
                </a:lnTo>
                <a:lnTo>
                  <a:pt x="1429131" y="1949200"/>
                </a:lnTo>
                <a:lnTo>
                  <a:pt x="1475232" y="1939017"/>
                </a:lnTo>
                <a:lnTo>
                  <a:pt x="1521333" y="1928379"/>
                </a:lnTo>
                <a:lnTo>
                  <a:pt x="1567434" y="1917275"/>
                </a:lnTo>
                <a:lnTo>
                  <a:pt x="1613535" y="1905694"/>
                </a:lnTo>
                <a:lnTo>
                  <a:pt x="1659636" y="1893623"/>
                </a:lnTo>
                <a:lnTo>
                  <a:pt x="1705737" y="1881052"/>
                </a:lnTo>
                <a:lnTo>
                  <a:pt x="1751838" y="1867971"/>
                </a:lnTo>
                <a:lnTo>
                  <a:pt x="1797939" y="1854369"/>
                </a:lnTo>
                <a:lnTo>
                  <a:pt x="1844040" y="1840236"/>
                </a:lnTo>
                <a:lnTo>
                  <a:pt x="1890141" y="1825563"/>
                </a:lnTo>
                <a:lnTo>
                  <a:pt x="1936242" y="1810341"/>
                </a:lnTo>
                <a:lnTo>
                  <a:pt x="1982343" y="1794563"/>
                </a:lnTo>
                <a:lnTo>
                  <a:pt x="2028444" y="1778220"/>
                </a:lnTo>
                <a:lnTo>
                  <a:pt x="2074545" y="1761306"/>
                </a:lnTo>
                <a:lnTo>
                  <a:pt x="2120646" y="1743816"/>
                </a:lnTo>
                <a:lnTo>
                  <a:pt x="2166747" y="1725743"/>
                </a:lnTo>
                <a:lnTo>
                  <a:pt x="2212848" y="1707084"/>
                </a:lnTo>
                <a:lnTo>
                  <a:pt x="2258949" y="1687836"/>
                </a:lnTo>
                <a:lnTo>
                  <a:pt x="2305050" y="1667996"/>
                </a:lnTo>
                <a:lnTo>
                  <a:pt x="2351151" y="1647562"/>
                </a:lnTo>
                <a:lnTo>
                  <a:pt x="2397252" y="1626535"/>
                </a:lnTo>
                <a:lnTo>
                  <a:pt x="2443353" y="1604916"/>
                </a:lnTo>
                <a:lnTo>
                  <a:pt x="2489454" y="1582705"/>
                </a:lnTo>
                <a:lnTo>
                  <a:pt x="2535554" y="1559908"/>
                </a:lnTo>
                <a:lnTo>
                  <a:pt x="2581656" y="1536528"/>
                </a:lnTo>
                <a:lnTo>
                  <a:pt x="2627757" y="1512571"/>
                </a:lnTo>
                <a:lnTo>
                  <a:pt x="2673858" y="1488045"/>
                </a:lnTo>
                <a:lnTo>
                  <a:pt x="2719958" y="1462957"/>
                </a:lnTo>
                <a:lnTo>
                  <a:pt x="2766060" y="1437319"/>
                </a:lnTo>
                <a:lnTo>
                  <a:pt x="2812161" y="1411140"/>
                </a:lnTo>
                <a:lnTo>
                  <a:pt x="2858262" y="1384435"/>
                </a:lnTo>
                <a:lnTo>
                  <a:pt x="2904363" y="1357218"/>
                </a:lnTo>
                <a:lnTo>
                  <a:pt x="2950464" y="1329504"/>
                </a:lnTo>
                <a:lnTo>
                  <a:pt x="2996565" y="1301310"/>
                </a:lnTo>
                <a:lnTo>
                  <a:pt x="3042666" y="1272657"/>
                </a:lnTo>
                <a:lnTo>
                  <a:pt x="3088767" y="1243564"/>
                </a:lnTo>
                <a:lnTo>
                  <a:pt x="3134868" y="1214053"/>
                </a:lnTo>
                <a:lnTo>
                  <a:pt x="3180968" y="1184148"/>
                </a:lnTo>
                <a:lnTo>
                  <a:pt x="3227070" y="1153874"/>
                </a:lnTo>
                <a:lnTo>
                  <a:pt x="3273171" y="1123258"/>
                </a:lnTo>
                <a:lnTo>
                  <a:pt x="3319271" y="1092327"/>
                </a:lnTo>
                <a:lnTo>
                  <a:pt x="3365373" y="1061112"/>
                </a:lnTo>
                <a:lnTo>
                  <a:pt x="3411474" y="1029643"/>
                </a:lnTo>
                <a:lnTo>
                  <a:pt x="3457574" y="997952"/>
                </a:lnTo>
                <a:lnTo>
                  <a:pt x="3503676" y="966074"/>
                </a:lnTo>
                <a:lnTo>
                  <a:pt x="3549777" y="934043"/>
                </a:lnTo>
                <a:lnTo>
                  <a:pt x="3595878" y="901897"/>
                </a:lnTo>
                <a:lnTo>
                  <a:pt x="3641979" y="869672"/>
                </a:lnTo>
                <a:lnTo>
                  <a:pt x="3688080" y="837407"/>
                </a:lnTo>
                <a:lnTo>
                  <a:pt x="3734181" y="805142"/>
                </a:lnTo>
                <a:lnTo>
                  <a:pt x="3780281" y="772918"/>
                </a:lnTo>
                <a:lnTo>
                  <a:pt x="3826383" y="740777"/>
                </a:lnTo>
                <a:lnTo>
                  <a:pt x="3872483" y="708761"/>
                </a:lnTo>
                <a:lnTo>
                  <a:pt x="3918584" y="676914"/>
                </a:lnTo>
                <a:lnTo>
                  <a:pt x="3964686" y="645280"/>
                </a:lnTo>
                <a:lnTo>
                  <a:pt x="4010786" y="613902"/>
                </a:lnTo>
                <a:lnTo>
                  <a:pt x="4056888" y="582827"/>
                </a:lnTo>
                <a:lnTo>
                  <a:pt x="4102989" y="552100"/>
                </a:lnTo>
                <a:lnTo>
                  <a:pt x="4149089" y="521766"/>
                </a:lnTo>
                <a:lnTo>
                  <a:pt x="4195191" y="491871"/>
                </a:lnTo>
                <a:lnTo>
                  <a:pt x="4241292" y="462462"/>
                </a:lnTo>
                <a:lnTo>
                  <a:pt x="4287392" y="433584"/>
                </a:lnTo>
                <a:lnTo>
                  <a:pt x="4333494" y="405282"/>
                </a:lnTo>
                <a:lnTo>
                  <a:pt x="4379594" y="377602"/>
                </a:lnTo>
                <a:lnTo>
                  <a:pt x="4425696" y="350588"/>
                </a:lnTo>
                <a:lnTo>
                  <a:pt x="4471797" y="324286"/>
                </a:lnTo>
                <a:lnTo>
                  <a:pt x="4517897" y="298738"/>
                </a:lnTo>
                <a:lnTo>
                  <a:pt x="4563999" y="273988"/>
                </a:lnTo>
                <a:lnTo>
                  <a:pt x="4610100" y="250077"/>
                </a:lnTo>
                <a:lnTo>
                  <a:pt x="4656200" y="227047"/>
                </a:lnTo>
                <a:lnTo>
                  <a:pt x="4702302" y="204936"/>
                </a:lnTo>
                <a:lnTo>
                  <a:pt x="4748402" y="183785"/>
                </a:lnTo>
                <a:lnTo>
                  <a:pt x="4794504" y="163628"/>
                </a:lnTo>
                <a:lnTo>
                  <a:pt x="4840605" y="144503"/>
                </a:lnTo>
                <a:lnTo>
                  <a:pt x="4886705" y="126444"/>
                </a:lnTo>
                <a:lnTo>
                  <a:pt x="4932807" y="109482"/>
                </a:lnTo>
                <a:lnTo>
                  <a:pt x="4978908" y="93649"/>
                </a:lnTo>
                <a:lnTo>
                  <a:pt x="5025008" y="78972"/>
                </a:lnTo>
                <a:lnTo>
                  <a:pt x="5071109" y="65479"/>
                </a:lnTo>
                <a:lnTo>
                  <a:pt x="5117211" y="53195"/>
                </a:lnTo>
                <a:lnTo>
                  <a:pt x="5163311" y="42142"/>
                </a:lnTo>
                <a:lnTo>
                  <a:pt x="5209413" y="32340"/>
                </a:lnTo>
                <a:lnTo>
                  <a:pt x="5255513" y="23808"/>
                </a:lnTo>
                <a:lnTo>
                  <a:pt x="5301615" y="16562"/>
                </a:lnTo>
                <a:lnTo>
                  <a:pt x="5347716" y="10614"/>
                </a:lnTo>
                <a:lnTo>
                  <a:pt x="5393816" y="5977"/>
                </a:lnTo>
                <a:lnTo>
                  <a:pt x="5439917" y="2658"/>
                </a:lnTo>
                <a:lnTo>
                  <a:pt x="5486019" y="664"/>
                </a:lnTo>
                <a:lnTo>
                  <a:pt x="5532119" y="0"/>
                </a:lnTo>
                <a:lnTo>
                  <a:pt x="5578220" y="664"/>
                </a:lnTo>
                <a:lnTo>
                  <a:pt x="5624321" y="2658"/>
                </a:lnTo>
                <a:lnTo>
                  <a:pt x="5670422" y="5977"/>
                </a:lnTo>
                <a:lnTo>
                  <a:pt x="5716524" y="10614"/>
                </a:lnTo>
                <a:lnTo>
                  <a:pt x="5762625" y="16562"/>
                </a:lnTo>
                <a:lnTo>
                  <a:pt x="5808726" y="23808"/>
                </a:lnTo>
                <a:lnTo>
                  <a:pt x="5854826" y="32340"/>
                </a:lnTo>
                <a:lnTo>
                  <a:pt x="5900927" y="42142"/>
                </a:lnTo>
                <a:lnTo>
                  <a:pt x="5947028" y="53195"/>
                </a:lnTo>
                <a:lnTo>
                  <a:pt x="5993129" y="65479"/>
                </a:lnTo>
                <a:lnTo>
                  <a:pt x="6039230" y="78972"/>
                </a:lnTo>
                <a:lnTo>
                  <a:pt x="6085332" y="93649"/>
                </a:lnTo>
                <a:lnTo>
                  <a:pt x="6131433" y="109482"/>
                </a:lnTo>
                <a:lnTo>
                  <a:pt x="6177534" y="126444"/>
                </a:lnTo>
                <a:lnTo>
                  <a:pt x="6223634" y="144503"/>
                </a:lnTo>
                <a:lnTo>
                  <a:pt x="6269735" y="163628"/>
                </a:lnTo>
                <a:lnTo>
                  <a:pt x="6315836" y="183785"/>
                </a:lnTo>
                <a:lnTo>
                  <a:pt x="6361937" y="204936"/>
                </a:lnTo>
                <a:lnTo>
                  <a:pt x="6408039" y="227047"/>
                </a:lnTo>
                <a:lnTo>
                  <a:pt x="6454140" y="250077"/>
                </a:lnTo>
                <a:lnTo>
                  <a:pt x="6500240" y="273988"/>
                </a:lnTo>
                <a:lnTo>
                  <a:pt x="6546342" y="298738"/>
                </a:lnTo>
                <a:lnTo>
                  <a:pt x="6592442" y="324286"/>
                </a:lnTo>
                <a:lnTo>
                  <a:pt x="6638543" y="350588"/>
                </a:lnTo>
                <a:lnTo>
                  <a:pt x="6684644" y="377602"/>
                </a:lnTo>
                <a:lnTo>
                  <a:pt x="6730745" y="405282"/>
                </a:lnTo>
                <a:lnTo>
                  <a:pt x="6776847" y="433584"/>
                </a:lnTo>
                <a:lnTo>
                  <a:pt x="6822948" y="462462"/>
                </a:lnTo>
                <a:lnTo>
                  <a:pt x="6869048" y="491871"/>
                </a:lnTo>
                <a:lnTo>
                  <a:pt x="6915150" y="521766"/>
                </a:lnTo>
                <a:lnTo>
                  <a:pt x="6961251" y="552100"/>
                </a:lnTo>
                <a:lnTo>
                  <a:pt x="7007352" y="582827"/>
                </a:lnTo>
                <a:lnTo>
                  <a:pt x="7053452" y="613902"/>
                </a:lnTo>
                <a:lnTo>
                  <a:pt x="7099554" y="645280"/>
                </a:lnTo>
                <a:lnTo>
                  <a:pt x="7145655" y="676914"/>
                </a:lnTo>
                <a:lnTo>
                  <a:pt x="7191756" y="708761"/>
                </a:lnTo>
                <a:lnTo>
                  <a:pt x="7237857" y="740777"/>
                </a:lnTo>
                <a:lnTo>
                  <a:pt x="7283958" y="772918"/>
                </a:lnTo>
                <a:lnTo>
                  <a:pt x="7330058" y="805142"/>
                </a:lnTo>
                <a:lnTo>
                  <a:pt x="7376159" y="837407"/>
                </a:lnTo>
                <a:lnTo>
                  <a:pt x="7422260" y="869672"/>
                </a:lnTo>
                <a:lnTo>
                  <a:pt x="7468362" y="901897"/>
                </a:lnTo>
                <a:lnTo>
                  <a:pt x="7514463" y="934043"/>
                </a:lnTo>
                <a:lnTo>
                  <a:pt x="7560563" y="966074"/>
                </a:lnTo>
                <a:lnTo>
                  <a:pt x="7606664" y="997952"/>
                </a:lnTo>
                <a:lnTo>
                  <a:pt x="7652766" y="1029643"/>
                </a:lnTo>
                <a:lnTo>
                  <a:pt x="7698866" y="1061112"/>
                </a:lnTo>
                <a:lnTo>
                  <a:pt x="7744967" y="1092327"/>
                </a:lnTo>
                <a:lnTo>
                  <a:pt x="7791069" y="1123258"/>
                </a:lnTo>
                <a:lnTo>
                  <a:pt x="7837169" y="1153874"/>
                </a:lnTo>
                <a:lnTo>
                  <a:pt x="7883271" y="1184148"/>
                </a:lnTo>
                <a:lnTo>
                  <a:pt x="7929372" y="1214053"/>
                </a:lnTo>
                <a:lnTo>
                  <a:pt x="7975473" y="1243564"/>
                </a:lnTo>
                <a:lnTo>
                  <a:pt x="8021573" y="1272657"/>
                </a:lnTo>
                <a:lnTo>
                  <a:pt x="8067675" y="1301310"/>
                </a:lnTo>
                <a:lnTo>
                  <a:pt x="8113776" y="1329504"/>
                </a:lnTo>
                <a:lnTo>
                  <a:pt x="8159877" y="1357218"/>
                </a:lnTo>
                <a:lnTo>
                  <a:pt x="8205978" y="1384435"/>
                </a:lnTo>
                <a:lnTo>
                  <a:pt x="8252079" y="1411140"/>
                </a:lnTo>
                <a:lnTo>
                  <a:pt x="8298179" y="1437319"/>
                </a:lnTo>
                <a:lnTo>
                  <a:pt x="8344281" y="1462957"/>
                </a:lnTo>
                <a:lnTo>
                  <a:pt x="8390382" y="1488045"/>
                </a:lnTo>
                <a:lnTo>
                  <a:pt x="8436482" y="1512571"/>
                </a:lnTo>
                <a:lnTo>
                  <a:pt x="8482584" y="1536528"/>
                </a:lnTo>
                <a:lnTo>
                  <a:pt x="8528685" y="1559908"/>
                </a:lnTo>
                <a:lnTo>
                  <a:pt x="8574786" y="1582705"/>
                </a:lnTo>
                <a:lnTo>
                  <a:pt x="8620887" y="1604916"/>
                </a:lnTo>
                <a:lnTo>
                  <a:pt x="8666988" y="1626535"/>
                </a:lnTo>
                <a:lnTo>
                  <a:pt x="8713088" y="1647562"/>
                </a:lnTo>
                <a:lnTo>
                  <a:pt x="8759189" y="1667996"/>
                </a:lnTo>
                <a:lnTo>
                  <a:pt x="8805291" y="1687836"/>
                </a:lnTo>
                <a:lnTo>
                  <a:pt x="8851392" y="1707084"/>
                </a:lnTo>
                <a:lnTo>
                  <a:pt x="8897493" y="1725743"/>
                </a:lnTo>
                <a:lnTo>
                  <a:pt x="8943594" y="1743816"/>
                </a:lnTo>
                <a:lnTo>
                  <a:pt x="8989694" y="1761306"/>
                </a:lnTo>
                <a:lnTo>
                  <a:pt x="9035795" y="1778220"/>
                </a:lnTo>
                <a:lnTo>
                  <a:pt x="9081897" y="1794563"/>
                </a:lnTo>
                <a:lnTo>
                  <a:pt x="9127998" y="1810341"/>
                </a:lnTo>
                <a:lnTo>
                  <a:pt x="9174099" y="1825563"/>
                </a:lnTo>
                <a:lnTo>
                  <a:pt x="9220200" y="1840236"/>
                </a:lnTo>
                <a:lnTo>
                  <a:pt x="9266300" y="1854369"/>
                </a:lnTo>
                <a:lnTo>
                  <a:pt x="9312402" y="1867971"/>
                </a:lnTo>
                <a:lnTo>
                  <a:pt x="9358503" y="1881052"/>
                </a:lnTo>
                <a:lnTo>
                  <a:pt x="9404604" y="1893623"/>
                </a:lnTo>
                <a:lnTo>
                  <a:pt x="9450704" y="1905694"/>
                </a:lnTo>
                <a:lnTo>
                  <a:pt x="9496805" y="1917275"/>
                </a:lnTo>
                <a:lnTo>
                  <a:pt x="9542907" y="1928379"/>
                </a:lnTo>
                <a:lnTo>
                  <a:pt x="9589008" y="1939017"/>
                </a:lnTo>
                <a:lnTo>
                  <a:pt x="9635109" y="1949200"/>
                </a:lnTo>
                <a:lnTo>
                  <a:pt x="9681210" y="1958942"/>
                </a:lnTo>
                <a:lnTo>
                  <a:pt x="9727310" y="1968253"/>
                </a:lnTo>
                <a:lnTo>
                  <a:pt x="9773411" y="1977147"/>
                </a:lnTo>
                <a:lnTo>
                  <a:pt x="9819513" y="1985636"/>
                </a:lnTo>
                <a:lnTo>
                  <a:pt x="9865614" y="1993732"/>
                </a:lnTo>
                <a:lnTo>
                  <a:pt x="9911715" y="2001448"/>
                </a:lnTo>
                <a:lnTo>
                  <a:pt x="9957816" y="2008796"/>
                </a:lnTo>
                <a:lnTo>
                  <a:pt x="10003916" y="2015788"/>
                </a:lnTo>
                <a:lnTo>
                  <a:pt x="10050018" y="2022438"/>
                </a:lnTo>
                <a:lnTo>
                  <a:pt x="10096119" y="2028756"/>
                </a:lnTo>
                <a:lnTo>
                  <a:pt x="10142219" y="2034756"/>
                </a:lnTo>
                <a:lnTo>
                  <a:pt x="10188320" y="2040449"/>
                </a:lnTo>
                <a:lnTo>
                  <a:pt x="10234422" y="2045847"/>
                </a:lnTo>
                <a:lnTo>
                  <a:pt x="10280523" y="2050961"/>
                </a:lnTo>
                <a:lnTo>
                  <a:pt x="10326624" y="2055803"/>
                </a:lnTo>
                <a:lnTo>
                  <a:pt x="10372725" y="2060385"/>
                </a:lnTo>
                <a:lnTo>
                  <a:pt x="10418826" y="2064716"/>
                </a:lnTo>
                <a:lnTo>
                  <a:pt x="10464926" y="2068809"/>
                </a:lnTo>
                <a:lnTo>
                  <a:pt x="10511027" y="2072672"/>
                </a:lnTo>
                <a:lnTo>
                  <a:pt x="10557129" y="2076317"/>
                </a:lnTo>
                <a:lnTo>
                  <a:pt x="10603230" y="2079753"/>
                </a:lnTo>
                <a:lnTo>
                  <a:pt x="10649331" y="2082991"/>
                </a:lnTo>
                <a:lnTo>
                  <a:pt x="10695432" y="2086038"/>
                </a:lnTo>
                <a:lnTo>
                  <a:pt x="10741532" y="2088905"/>
                </a:lnTo>
                <a:lnTo>
                  <a:pt x="10787634" y="2091601"/>
                </a:lnTo>
                <a:lnTo>
                  <a:pt x="10833735" y="2094133"/>
                </a:lnTo>
                <a:lnTo>
                  <a:pt x="10879835" y="2096510"/>
                </a:lnTo>
                <a:lnTo>
                  <a:pt x="10925937" y="2098740"/>
                </a:lnTo>
                <a:lnTo>
                  <a:pt x="10972038" y="2100831"/>
                </a:lnTo>
                <a:lnTo>
                  <a:pt x="11018138" y="2102789"/>
                </a:lnTo>
                <a:lnTo>
                  <a:pt x="11064240" y="2104623"/>
                </a:lnTo>
              </a:path>
            </a:pathLst>
          </a:custGeom>
          <a:noFill/>
          <a:ln w="381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3429000"/>
            <a:ext cx="11064240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392680" y="1371600"/>
            <a:ext cx="0" cy="2057400"/>
          </a:xfrm>
          <a:prstGeom prst="line">
            <a:avLst/>
          </a:prstGeom>
          <a:ln w="12700">
            <a:solidFill>
              <a:srgbClr val="C9CE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36720" y="1371600"/>
            <a:ext cx="0" cy="2057400"/>
          </a:xfrm>
          <a:prstGeom prst="line">
            <a:avLst/>
          </a:prstGeom>
          <a:ln w="12700">
            <a:solidFill>
              <a:srgbClr val="C9CE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0759" y="1371600"/>
            <a:ext cx="0" cy="2057400"/>
          </a:xfrm>
          <a:prstGeom prst="line">
            <a:avLst/>
          </a:prstGeom>
          <a:ln w="12700">
            <a:solidFill>
              <a:srgbClr val="C9CE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924799" y="1371600"/>
            <a:ext cx="0" cy="2057400"/>
          </a:xfrm>
          <a:prstGeom prst="line">
            <a:avLst/>
          </a:prstGeom>
          <a:ln w="12700">
            <a:solidFill>
              <a:srgbClr val="C9CE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26991" y="1188720"/>
            <a:ext cx="219456" cy="22128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5199" y="1143000"/>
            <a:ext cx="1463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00" b="1">
                <a:solidFill>
                  <a:srgbClr val="C63D3D"/>
                </a:solidFill>
                <a:latin typeface="Arial"/>
              </a:rPr>
              <a:t>CHASM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02152"/>
            <a:ext cx="18440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Innovators, 2.5%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3931920"/>
            <a:ext cx="1789176" cy="9601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{{innovators: who they are and what they need}}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2680" y="3502152"/>
            <a:ext cx="18440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Early adopters, 13.5%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0112" y="3931920"/>
            <a:ext cx="1789176" cy="9601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{{early_adopters: who they are and what they need}}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6720" y="3502152"/>
            <a:ext cx="18440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Early majority, 34%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4152" y="3931920"/>
            <a:ext cx="1789176" cy="9601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{{early_majority: who they are and what they need}}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3502152"/>
            <a:ext cx="1844039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Late majority, 34%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192" y="3931920"/>
            <a:ext cx="1789175" cy="9601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{{late_majority: who they are and what they need}}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4799" y="3502152"/>
            <a:ext cx="36880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Laggards, 16%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2231" y="3931920"/>
            <a:ext cx="3633216" cy="9601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{{laggards: who they are and what they need}}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0055"/>
            <a:ext cx="359664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Where we are now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3596640" cy="128016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{{now: share of adopters and who buys now}}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82439" y="5020055"/>
            <a:ext cx="359664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Beachhead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82439" y="5349240"/>
            <a:ext cx="3596640" cy="12801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{{beachhead: the niche we take first, and why}}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16239" y="5020055"/>
            <a:ext cx="359664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Whole product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6239" y="5349240"/>
            <a:ext cx="3596640" cy="12801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{{whole_product: what to add for this niche}}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