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SALES FUNNEL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whose customers, for what period}}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45720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Stage and how many customers are on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1143000"/>
            <a:ext cx="12344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Conversion from previous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143000"/>
            <a:ext cx="109728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l"/>
            <a:r>
              <a:rPr sz="1000" b="1">
                <a:solidFill>
                  <a:srgbClr val="6B7280"/>
                </a:solidFill>
                <a:latin typeface="Arial"/>
              </a:rPr>
              <a:t>Time at stage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4572000" cy="621792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{{stage_1: stage name}}: {{count_1: number of customers}}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600200"/>
            <a:ext cx="1234440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entry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600200"/>
            <a:ext cx="1097280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{{days_1: days or minutes}}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386584"/>
            <a:ext cx="4023360" cy="621792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62B33"/>
                </a:solidFill>
                <a:latin typeface="Arial"/>
              </a:rPr>
              <a:t>{{stage_2: stage name}}: {{count_2: number of customers}}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386584"/>
            <a:ext cx="1234440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{{conv_2: % from previous stage}}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86584"/>
            <a:ext cx="1097280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{{days_2: days or minutes}}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166360" y="2176272"/>
            <a:ext cx="182880" cy="256032"/>
          </a:xfrm>
          <a:prstGeom prst="downArrow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" name="optional_stage_3"/>
          <p:cNvGrpSpPr/>
          <p:nvPr/>
        </p:nvGrpSpPr>
        <p:grpSpPr>
          <a:xfrm>
            <a:off x="1188720" y="2962656"/>
            <a:ext cx="6583680" cy="832104"/>
            <a:chOff x="1188720" y="2962656"/>
            <a:chExt cx="6583680" cy="832104"/>
          </a:xfrm>
        </p:grpSpPr>
        <p:sp>
          <p:nvSpPr>
            <p:cNvPr id="15" name="Rectangle 14"/>
            <p:cNvSpPr/>
            <p:nvPr/>
          </p:nvSpPr>
          <p:spPr>
            <a:xfrm>
              <a:off x="1188720" y="3172968"/>
              <a:ext cx="3474720" cy="621792"/>
            </a:xfrm>
            <a:prstGeom prst="rect">
              <a:avLst/>
            </a:prstGeom>
            <a:solidFill>
              <a:srgbClr val="E8F0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ctr"/>
              <a:r>
                <a:rPr sz="1200" b="1">
                  <a:solidFill>
                    <a:srgbClr val="262B33"/>
                  </a:solidFill>
                  <a:latin typeface="Arial"/>
                </a:rPr>
                <a:t>{{stage_3: stage name}}: {{count_3: number of customers}}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394960" y="3172968"/>
              <a:ext cx="1234440" cy="6217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200" b="1">
                  <a:solidFill>
                    <a:srgbClr val="262B33"/>
                  </a:solidFill>
                  <a:latin typeface="Arial"/>
                </a:rPr>
                <a:t>{{conv_3: % from previous stage}}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675120" y="3172968"/>
              <a:ext cx="1097280" cy="6217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200" b="0">
                  <a:solidFill>
                    <a:srgbClr val="262B33"/>
                  </a:solidFill>
                  <a:latin typeface="Arial"/>
                </a:rPr>
                <a:t>{{days_3: days or minutes}}</a:t>
              </a:r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5166360" y="2962656"/>
              <a:ext cx="182880" cy="256032"/>
            </a:xfrm>
            <a:prstGeom prst="downArrow">
              <a:avLst/>
            </a:prstGeom>
            <a:solidFill>
              <a:srgbClr val="C9CE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optional_stage_4"/>
          <p:cNvGrpSpPr/>
          <p:nvPr/>
        </p:nvGrpSpPr>
        <p:grpSpPr>
          <a:xfrm>
            <a:off x="1463040" y="3749040"/>
            <a:ext cx="6309360" cy="832104"/>
            <a:chOff x="1463040" y="3749040"/>
            <a:chExt cx="6309360" cy="832104"/>
          </a:xfrm>
        </p:grpSpPr>
        <p:sp>
          <p:nvSpPr>
            <p:cNvPr id="20" name="Rectangle 19"/>
            <p:cNvSpPr/>
            <p:nvPr/>
          </p:nvSpPr>
          <p:spPr>
            <a:xfrm>
              <a:off x="1463040" y="3959352"/>
              <a:ext cx="2926080" cy="621792"/>
            </a:xfrm>
            <a:prstGeom prst="rect">
              <a:avLst/>
            </a:prstGeom>
            <a:solidFill>
              <a:srgbClr val="E8F0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ctr"/>
              <a:r>
                <a:rPr sz="1200" b="1">
                  <a:solidFill>
                    <a:srgbClr val="262B33"/>
                  </a:solidFill>
                  <a:latin typeface="Arial"/>
                </a:rPr>
                <a:t>{{stage_4: stage name}}: {{count_4: number of customers}}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394960" y="3959352"/>
              <a:ext cx="1234440" cy="6217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200" b="1">
                  <a:solidFill>
                    <a:srgbClr val="262B33"/>
                  </a:solidFill>
                  <a:latin typeface="Arial"/>
                </a:rPr>
                <a:t>{{conv_4: % from previous stage}}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675120" y="3959352"/>
              <a:ext cx="1097280" cy="6217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200" b="0">
                  <a:solidFill>
                    <a:srgbClr val="262B33"/>
                  </a:solidFill>
                  <a:latin typeface="Arial"/>
                </a:rPr>
                <a:t>{{days_4: days or minutes}}</a:t>
              </a:r>
            </a:p>
          </p:txBody>
        </p:sp>
        <p:sp>
          <p:nvSpPr>
            <p:cNvPr id="23" name="Down Arrow 22"/>
            <p:cNvSpPr/>
            <p:nvPr/>
          </p:nvSpPr>
          <p:spPr>
            <a:xfrm>
              <a:off x="5166360" y="3749040"/>
              <a:ext cx="182880" cy="256032"/>
            </a:xfrm>
            <a:prstGeom prst="downArrow">
              <a:avLst/>
            </a:prstGeom>
            <a:solidFill>
              <a:srgbClr val="C9CE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optional_stage_5"/>
          <p:cNvGrpSpPr/>
          <p:nvPr/>
        </p:nvGrpSpPr>
        <p:grpSpPr>
          <a:xfrm>
            <a:off x="1737360" y="4535424"/>
            <a:ext cx="6035040" cy="832104"/>
            <a:chOff x="1737360" y="4535424"/>
            <a:chExt cx="6035040" cy="832104"/>
          </a:xfrm>
        </p:grpSpPr>
        <p:sp>
          <p:nvSpPr>
            <p:cNvPr id="25" name="Rectangle 24"/>
            <p:cNvSpPr/>
            <p:nvPr/>
          </p:nvSpPr>
          <p:spPr>
            <a:xfrm>
              <a:off x="1737360" y="4745736"/>
              <a:ext cx="2377440" cy="621792"/>
            </a:xfrm>
            <a:prstGeom prst="rect">
              <a:avLst/>
            </a:prstGeom>
            <a:solidFill>
              <a:srgbClr val="E8F0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ctr"/>
              <a:r>
                <a:rPr sz="1200" b="1">
                  <a:solidFill>
                    <a:srgbClr val="262B33"/>
                  </a:solidFill>
                  <a:latin typeface="Arial"/>
                </a:rPr>
                <a:t>{{stage_5: stage name}}: {{count_5: number of customers}}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394960" y="4745736"/>
              <a:ext cx="1234440" cy="6217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200" b="1">
                  <a:solidFill>
                    <a:srgbClr val="262B33"/>
                  </a:solidFill>
                  <a:latin typeface="Arial"/>
                </a:rPr>
                <a:t>{{conv_5: % from previous stage}}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675120" y="4745736"/>
              <a:ext cx="1097280" cy="6217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200" b="0">
                  <a:solidFill>
                    <a:srgbClr val="262B33"/>
                  </a:solidFill>
                  <a:latin typeface="Arial"/>
                </a:rPr>
                <a:t>{{days_5: days or minutes}}</a:t>
              </a:r>
            </a:p>
          </p:txBody>
        </p:sp>
        <p:sp>
          <p:nvSpPr>
            <p:cNvPr id="28" name="Down Arrow 27"/>
            <p:cNvSpPr/>
            <p:nvPr/>
          </p:nvSpPr>
          <p:spPr>
            <a:xfrm>
              <a:off x="5166360" y="4535424"/>
              <a:ext cx="182880" cy="256032"/>
            </a:xfrm>
            <a:prstGeom prst="downArrow">
              <a:avLst/>
            </a:prstGeom>
            <a:solidFill>
              <a:srgbClr val="C9CE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" name="optional_stage_6"/>
          <p:cNvGrpSpPr/>
          <p:nvPr/>
        </p:nvGrpSpPr>
        <p:grpSpPr>
          <a:xfrm>
            <a:off x="2011680" y="5321808"/>
            <a:ext cx="5760720" cy="832104"/>
            <a:chOff x="2011680" y="5321808"/>
            <a:chExt cx="5760720" cy="832104"/>
          </a:xfrm>
        </p:grpSpPr>
        <p:sp>
          <p:nvSpPr>
            <p:cNvPr id="30" name="Rectangle 29"/>
            <p:cNvSpPr/>
            <p:nvPr/>
          </p:nvSpPr>
          <p:spPr>
            <a:xfrm>
              <a:off x="2011680" y="5532120"/>
              <a:ext cx="1828800" cy="621792"/>
            </a:xfrm>
            <a:prstGeom prst="rect">
              <a:avLst/>
            </a:prstGeom>
            <a:solidFill>
              <a:srgbClr val="E8F0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ctr"/>
              <a:r>
                <a:rPr sz="1200" b="1">
                  <a:solidFill>
                    <a:srgbClr val="262B33"/>
                  </a:solidFill>
                  <a:latin typeface="Arial"/>
                </a:rPr>
                <a:t>{{stage_6: stage name}}: {{count_6: number of customers}}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394960" y="5532120"/>
              <a:ext cx="1234440" cy="6217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200" b="1">
                  <a:solidFill>
                    <a:srgbClr val="262B33"/>
                  </a:solidFill>
                  <a:latin typeface="Arial"/>
                </a:rPr>
                <a:t>{{conv_6: % from previous stage}}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675120" y="5532120"/>
              <a:ext cx="1097280" cy="6217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200" b="0">
                  <a:solidFill>
                    <a:srgbClr val="262B33"/>
                  </a:solidFill>
                  <a:latin typeface="Arial"/>
                </a:rPr>
                <a:t>{{days_6: days or minutes}}</a:t>
              </a:r>
            </a:p>
          </p:txBody>
        </p:sp>
        <p:sp>
          <p:nvSpPr>
            <p:cNvPr id="33" name="Down Arrow 32"/>
            <p:cNvSpPr/>
            <p:nvPr/>
          </p:nvSpPr>
          <p:spPr>
            <a:xfrm>
              <a:off x="5166360" y="5321808"/>
              <a:ext cx="182880" cy="256032"/>
            </a:xfrm>
            <a:prstGeom prst="downArrow">
              <a:avLst/>
            </a:prstGeom>
            <a:solidFill>
              <a:srgbClr val="C9CE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Rectangle 33"/>
          <p:cNvSpPr/>
          <p:nvPr/>
        </p:nvSpPr>
        <p:spPr>
          <a:xfrm>
            <a:off x="8001000" y="1188720"/>
            <a:ext cx="373075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1508760"/>
            <a:ext cx="3730752" cy="10058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{{scope: data source and how time is measured}}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2651760"/>
            <a:ext cx="373075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Bottleneck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2971800"/>
            <a:ext cx="3730752" cy="1417319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{{bottleneck: where we lose most customers and why}}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4526280"/>
            <a:ext cx="373075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4846320"/>
            <a:ext cx="3730752" cy="16002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change and the expected result}}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