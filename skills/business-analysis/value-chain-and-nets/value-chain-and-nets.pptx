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VALUE CHAIN &amp; NETS · VALUE CHAIN AND VALUE NETS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level, object and analysis date}}</a:t>
            </a:r>
          </a:p>
        </p:txBody>
      </p:sp>
      <p:grpSp>
        <p:nvGrpSpPr>
          <p:cNvPr id="4" name="optional_support"/>
          <p:cNvGrpSpPr/>
          <p:nvPr/>
        </p:nvGrpSpPr>
        <p:grpSpPr>
          <a:xfrm>
            <a:off x="457200" y="1097280"/>
            <a:ext cx="11275466" cy="585216"/>
            <a:chOff x="457200" y="1097280"/>
            <a:chExt cx="11275466" cy="585216"/>
          </a:xfrm>
        </p:grpSpPr>
        <p:sp>
          <p:nvSpPr>
            <p:cNvPr id="5" name="Rectangle 4"/>
            <p:cNvSpPr/>
            <p:nvPr/>
          </p:nvSpPr>
          <p:spPr>
            <a:xfrm>
              <a:off x="457200" y="1097280"/>
              <a:ext cx="2697480" cy="585216"/>
            </a:xfrm>
            <a:prstGeom prst="rect">
              <a:avLst/>
            </a:prstGeom>
            <a:solidFill>
              <a:srgbClr val="E8F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75488" y="1097280"/>
              <a:ext cx="266090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2E8B57"/>
                  </a:solidFill>
                  <a:latin typeface="Arial"/>
                </a:rPr>
                <a:t>Support: Firm infrastructure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57200" y="1316736"/>
              <a:ext cx="2697480" cy="3657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900" b="0">
                  <a:solidFill>
                    <a:srgbClr val="262B33"/>
                  </a:solidFill>
                  <a:latin typeface="Arial"/>
                </a:rPr>
                <a:t>{{sup_infra: what it does}}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316528" y="1097280"/>
              <a:ext cx="2697480" cy="585216"/>
            </a:xfrm>
            <a:prstGeom prst="rect">
              <a:avLst/>
            </a:prstGeom>
            <a:solidFill>
              <a:srgbClr val="E8F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334816" y="1097280"/>
              <a:ext cx="266090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2E8B57"/>
                  </a:solidFill>
                  <a:latin typeface="Arial"/>
                </a:rPr>
                <a:t>Support: Human resources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16528" y="1316736"/>
              <a:ext cx="2697480" cy="3657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900" b="0">
                  <a:solidFill>
                    <a:srgbClr val="262B33"/>
                  </a:solidFill>
                  <a:latin typeface="Arial"/>
                </a:rPr>
                <a:t>{{sup_hr: what it does}}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75857" y="1097280"/>
              <a:ext cx="2697480" cy="585216"/>
            </a:xfrm>
            <a:prstGeom prst="rect">
              <a:avLst/>
            </a:prstGeom>
            <a:solidFill>
              <a:srgbClr val="E8F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194145" y="1097280"/>
              <a:ext cx="266090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2E8B57"/>
                  </a:solidFill>
                  <a:latin typeface="Arial"/>
                </a:rPr>
                <a:t>Support: Technology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175857" y="1316736"/>
              <a:ext cx="2697480" cy="3657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900" b="0">
                  <a:solidFill>
                    <a:srgbClr val="262B33"/>
                  </a:solidFill>
                  <a:latin typeface="Arial"/>
                </a:rPr>
                <a:t>{{sup_tech: what it does}}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035186" y="1097280"/>
              <a:ext cx="2697480" cy="585216"/>
            </a:xfrm>
            <a:prstGeom prst="rect">
              <a:avLst/>
            </a:prstGeom>
            <a:solidFill>
              <a:srgbClr val="E8F5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053474" y="1097280"/>
              <a:ext cx="266090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2E8B57"/>
                  </a:solidFill>
                  <a:latin typeface="Arial"/>
                </a:rPr>
                <a:t>Support: Procurement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035186" y="1316736"/>
              <a:ext cx="2697480" cy="3657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900" b="0">
                  <a:solidFill>
                    <a:srgbClr val="262B33"/>
                  </a:solidFill>
                  <a:latin typeface="Arial"/>
                </a:rPr>
                <a:t>{{sup_proc: what it does}}</a:t>
              </a:r>
            </a:p>
          </p:txBody>
        </p:sp>
      </p:grpSp>
      <p:grpSp>
        <p:nvGrpSpPr>
          <p:cNvPr id="17" name="optional_node_6"/>
          <p:cNvGrpSpPr/>
          <p:nvPr/>
        </p:nvGrpSpPr>
        <p:grpSpPr>
          <a:xfrm>
            <a:off x="9842601" y="1755648"/>
            <a:ext cx="1889151" cy="2560320"/>
            <a:chOff x="9842601" y="1755648"/>
            <a:chExt cx="1889151" cy="2560320"/>
          </a:xfrm>
        </p:grpSpPr>
        <p:sp>
          <p:nvSpPr>
            <p:cNvPr id="63" name="Right Arrow 62"/>
            <p:cNvSpPr/>
            <p:nvPr/>
          </p:nvSpPr>
          <p:spPr>
            <a:xfrm>
              <a:off x="9842601" y="1892807"/>
              <a:ext cx="133502" cy="219456"/>
            </a:xfrm>
            <a:prstGeom prst="rightArrow">
              <a:avLst/>
            </a:prstGeom>
            <a:solidFill>
              <a:srgbClr val="2F6F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994392" y="1755648"/>
              <a:ext cx="1737360" cy="502920"/>
            </a:xfrm>
            <a:prstGeom prst="rect">
              <a:avLst/>
            </a:prstGeom>
            <a:solidFill>
              <a:srgbClr val="E8F0FC"/>
            </a:solidFill>
            <a:ln w="12700">
              <a:solidFill>
                <a:srgbClr val="2F6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100" b="1">
                  <a:solidFill>
                    <a:srgbClr val="2F6FDE"/>
                  </a:solidFill>
                  <a:latin typeface="Arial"/>
                </a:rPr>
                <a:t>{{n6: link name}}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994392" y="2304288"/>
              <a:ext cx="1737360" cy="640080"/>
            </a:xfrm>
            <a:prstGeom prst="rect">
              <a:avLst/>
            </a:prstGeom>
            <a:noFill/>
            <a:ln w="12700">
              <a:solidFill>
                <a:srgbClr val="C9CE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0012680" y="2304288"/>
              <a:ext cx="170078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6B7280"/>
                  </a:solidFill>
                  <a:latin typeface="Arial"/>
                </a:rPr>
                <a:t>What it does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9994392" y="2523744"/>
              <a:ext cx="1737360" cy="4206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1000" b="0">
                  <a:solidFill>
                    <a:srgbClr val="262B33"/>
                  </a:solidFill>
                  <a:latin typeface="Arial"/>
                </a:rPr>
                <a:t>{{r6: what the link does}}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9994392" y="2990088"/>
              <a:ext cx="1737360" cy="640080"/>
            </a:xfrm>
            <a:prstGeom prst="rect">
              <a:avLst/>
            </a:prstGeom>
            <a:noFill/>
            <a:ln w="12700">
              <a:solidFill>
                <a:srgbClr val="C9CE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0012680" y="2990088"/>
              <a:ext cx="170078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6B7280"/>
                  </a:solidFill>
                  <a:latin typeface="Arial"/>
                </a:rPr>
                <a:t>Cost and time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994392" y="3209544"/>
              <a:ext cx="1737360" cy="4206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1000" b="0">
                  <a:solidFill>
                    <a:srgbClr val="262B33"/>
                  </a:solidFill>
                  <a:latin typeface="Arial"/>
                </a:rPr>
                <a:t>{{c6: cost and time of the link}}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9994392" y="3675887"/>
              <a:ext cx="1737360" cy="640080"/>
            </a:xfrm>
            <a:prstGeom prst="rect">
              <a:avLst/>
            </a:prstGeom>
            <a:noFill/>
            <a:ln w="12700">
              <a:solidFill>
                <a:srgbClr val="C9CE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0012680" y="3675887"/>
              <a:ext cx="1700784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800" b="0">
                  <a:solidFill>
                    <a:srgbClr val="6B7280"/>
                  </a:solidFill>
                  <a:latin typeface="Arial"/>
                </a:rPr>
                <a:t>What the customer sees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994392" y="3895344"/>
              <a:ext cx="1737360" cy="42062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tIns="54864" bIns="54864"/>
            <a:lstStyle/>
            <a:p>
              <a:pPr algn="l"/>
              <a:r>
                <a:rPr sz="1000" b="0">
                  <a:solidFill>
                    <a:srgbClr val="262B33"/>
                  </a:solidFill>
                  <a:latin typeface="Arial"/>
                </a:rPr>
                <a:t>{{s6: what the customer sees}}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457200" y="1755648"/>
            <a:ext cx="1737360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{{n1: link name}}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212848" y="1892807"/>
            <a:ext cx="133502" cy="219456"/>
          </a:xfrm>
          <a:prstGeom prst="rightArrow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3042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23042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it does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237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{{r1: what the link does}}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" y="29900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Cost and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95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{{c1: cost and time of the link}}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75887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3675887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the customer sees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953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{{s1: what the customer sees}}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64638" y="1755648"/>
            <a:ext cx="1737360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{{n2: link name}}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120286" y="1892807"/>
            <a:ext cx="133502" cy="219456"/>
          </a:xfrm>
          <a:prstGeom prst="rightArrow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64638" y="23042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82926" y="23042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it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4638" y="25237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{{r2: what the link does}}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64638" y="29900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82926" y="29900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Cost and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4638" y="32095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{{c2: cost and time of the link}}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64638" y="3675887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82926" y="3675887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the customer sees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64638" y="38953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{{s2: what the customer sees}}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2076" y="1755648"/>
            <a:ext cx="1737360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{{n3: link name}}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027724" y="1892807"/>
            <a:ext cx="133502" cy="219456"/>
          </a:xfrm>
          <a:prstGeom prst="rightArrow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2076" y="23042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0364" y="23042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it does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2076" y="25237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{{r3: what the link does}}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2076" y="29900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90364" y="29900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Cost and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2076" y="32095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{{c3: cost and time of the link}}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2076" y="3675887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90364" y="3675887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the customer sees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2076" y="38953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{{s3: what the customer sees}}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9515" y="1755648"/>
            <a:ext cx="1737360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{{n4: link name}}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935163" y="1892807"/>
            <a:ext cx="133502" cy="219456"/>
          </a:xfrm>
          <a:prstGeom prst="rightArrow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79515" y="23042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97803" y="23042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it does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9515" y="25237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{{r4: what the link does}}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9515" y="29900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97803" y="29900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Cost and time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9515" y="32095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{{c4: cost and time of the link}}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9515" y="3675887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7803" y="3675887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the customer sees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9515" y="38953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{{s4: what the customer sees}}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86953" y="1755648"/>
            <a:ext cx="1737360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{{n5: link name}}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86953" y="23042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05241" y="23042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it does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86953" y="25237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{{r5: what the link does}}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86953" y="2990088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05241" y="2990088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Cost and 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86953" y="32095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{{c5: cost and time of the link}}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86953" y="3675887"/>
            <a:ext cx="173736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05241" y="3675887"/>
            <a:ext cx="170078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What the customer sees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86953" y="3895344"/>
            <a:ext cx="1737360" cy="4206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{{s5: what the customer sees}}</a:t>
            </a:r>
          </a:p>
        </p:txBody>
      </p:sp>
      <p:grpSp>
        <p:nvGrpSpPr>
          <p:cNvPr id="83" name="optional_margin"/>
          <p:cNvGrpSpPr/>
          <p:nvPr/>
        </p:nvGrpSpPr>
        <p:grpSpPr>
          <a:xfrm>
            <a:off x="457200" y="4370832"/>
            <a:ext cx="11274552" cy="292608"/>
            <a:chOff x="457200" y="4370832"/>
            <a:chExt cx="11274552" cy="292608"/>
          </a:xfrm>
        </p:grpSpPr>
        <p:sp>
          <p:nvSpPr>
            <p:cNvPr id="84" name="Pentagon 83"/>
            <p:cNvSpPr/>
            <p:nvPr/>
          </p:nvSpPr>
          <p:spPr>
            <a:xfrm>
              <a:off x="457200" y="4370832"/>
              <a:ext cx="11274552" cy="292608"/>
            </a:xfrm>
            <a:prstGeom prst="homePlate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000" b="1">
                  <a:solidFill>
                    <a:srgbClr val="2F6FDE"/>
                  </a:solidFill>
                  <a:latin typeface="Arial"/>
                </a:rPr>
                <a:t>Margin: {{margin: output value minus link costs}}</a:t>
              </a:r>
            </a:p>
          </p:txBody>
        </p:sp>
      </p:grpSp>
      <p:sp>
        <p:nvSpPr>
          <p:cNvPr id="85" name="Rectangle 84"/>
          <p:cNvSpPr/>
          <p:nvPr/>
        </p:nvSpPr>
        <p:spPr>
          <a:xfrm>
            <a:off x="457200" y="4754880"/>
            <a:ext cx="3017520" cy="11887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12064" y="4754880"/>
            <a:ext cx="2907791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Customer value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2064" y="5047488"/>
            <a:ext cx="2907791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{{value: customer value and proof}}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11880" y="4754880"/>
            <a:ext cx="2606040" cy="11887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666744" y="4754880"/>
            <a:ext cx="249631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Where value is not created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66744" y="5047488"/>
            <a:ext cx="2496312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{{waste: where value is lost}}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355080" y="4754880"/>
            <a:ext cx="2926080" cy="118872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409944" y="4754880"/>
            <a:ext cx="28163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Decision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09944" y="5047488"/>
            <a:ext cx="2816352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{{decision: decision and next step}}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418320" y="4754880"/>
            <a:ext cx="2313432" cy="11887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473184" y="4754880"/>
            <a:ext cx="2203703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Check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73184" y="5047488"/>
            <a:ext cx="2203703" cy="8778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{{check: check metric and target date}}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598932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{{sources: where the data on the links comes from}}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