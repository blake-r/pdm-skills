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LANDING PAGE / PRESENTATION / CONTACT COLLECTION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idea, audience and test dates}}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828800" cy="502920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Hypothesis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1097280"/>
            <a:ext cx="9445752" cy="502920"/>
          </a:xfrm>
          <a:prstGeom prst="rect">
            <a:avLst/>
          </a:prstGeom>
          <a:solidFill>
            <a:srgbClr val="E8F0F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{{hypothesis: belief, audience and confirming criterion}}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3657600" cy="292608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Page or presentation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29968"/>
            <a:ext cx="3657600" cy="71323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{{page: page contents}}</a:t>
            </a:r>
          </a:p>
        </p:txBody>
      </p:sp>
      <p:sp>
        <p:nvSpPr>
          <p:cNvPr id="8" name="Rectangle 7"/>
          <p:cNvSpPr/>
          <p:nvPr/>
        </p:nvSpPr>
        <p:spPr>
          <a:xfrm>
            <a:off x="4265676" y="1737360"/>
            <a:ext cx="3657600" cy="292608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Where visitors come from</a:t>
            </a:r>
          </a:p>
        </p:txBody>
      </p:sp>
      <p:sp>
        <p:nvSpPr>
          <p:cNvPr id="9" name="Rectangle 8"/>
          <p:cNvSpPr/>
          <p:nvPr/>
        </p:nvSpPr>
        <p:spPr>
          <a:xfrm>
            <a:off x="4265676" y="2029968"/>
            <a:ext cx="3657600" cy="71323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{{traffic: channel and audience of visitors}}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74152" y="1737360"/>
            <a:ext cx="3657600" cy="292608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Target action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74152" y="2029968"/>
            <a:ext cx="3657600" cy="71323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{{action: action we ask for}}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88920"/>
            <a:ext cx="1127455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2F6FDE"/>
                </a:solidFill>
                <a:latin typeface="Arial"/>
              </a:rPr>
              <a:t>Visitor reaction steps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63240"/>
            <a:ext cx="5788152" cy="292608"/>
          </a:xfrm>
          <a:prstGeom prst="rect">
            <a:avLst/>
          </a:prstGeom>
          <a:solidFill>
            <a:srgbClr val="2F6FD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Step (from the view to the most costly action)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5352" y="3063240"/>
            <a:ext cx="1828800" cy="292608"/>
          </a:xfrm>
          <a:prstGeom prst="rect">
            <a:avLst/>
          </a:prstGeom>
          <a:solidFill>
            <a:srgbClr val="2F6FD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Number of people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74152" y="3063240"/>
            <a:ext cx="1828800" cy="292608"/>
          </a:xfrm>
          <a:prstGeom prst="rect">
            <a:avLst/>
          </a:prstGeom>
          <a:solidFill>
            <a:srgbClr val="2F6FD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To previous step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2952" y="3063240"/>
            <a:ext cx="1828800" cy="292608"/>
          </a:xfrm>
          <a:prstGeom prst="rect">
            <a:avLst/>
          </a:prstGeom>
          <a:solidFill>
            <a:srgbClr val="2F6FD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To views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355848"/>
            <a:ext cx="5788152" cy="3657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{{s1: step, what people did}}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5352" y="3355848"/>
            <a:ext cx="1828800" cy="3657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8288" rIns="18288"/>
          <a:lstStyle/>
          <a:p>
            <a:pPr algn="ctr"/>
            <a:r>
              <a:rPr sz="1000" b="0">
                <a:solidFill>
                  <a:srgbClr val="262B33"/>
                </a:solidFill>
                <a:latin typeface="Arial"/>
              </a:rPr>
              <a:t>{{n1: number of people}}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74152" y="3355848"/>
            <a:ext cx="1828800" cy="3657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8288" rIns="18288"/>
          <a:lstStyle/>
          <a:p>
            <a:pPr algn="ctr"/>
            <a:r>
              <a:rPr sz="1000" b="0">
                <a:solidFill>
                  <a:srgbClr val="262B33"/>
                </a:solidFill>
                <a:latin typeface="Arial"/>
              </a:rPr>
              <a:t>{{p1: share, %}}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2952" y="3355848"/>
            <a:ext cx="1828800" cy="3657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8288" rIns="18288"/>
          <a:lstStyle/>
          <a:p>
            <a:pPr algn="ctr"/>
            <a:r>
              <a:rPr sz="1000" b="0">
                <a:solidFill>
                  <a:srgbClr val="262B33"/>
                </a:solidFill>
                <a:latin typeface="Arial"/>
              </a:rPr>
              <a:t>{{t1: share, %}}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721608"/>
            <a:ext cx="5788152" cy="3657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{{s2: step, what people did}}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5352" y="3721608"/>
            <a:ext cx="1828800" cy="3657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8288" rIns="18288"/>
          <a:lstStyle/>
          <a:p>
            <a:pPr algn="ctr"/>
            <a:r>
              <a:rPr sz="1000" b="0">
                <a:solidFill>
                  <a:srgbClr val="262B33"/>
                </a:solidFill>
                <a:latin typeface="Arial"/>
              </a:rPr>
              <a:t>{{n2: number of people}}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74152" y="3721608"/>
            <a:ext cx="1828800" cy="3657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8288" rIns="18288"/>
          <a:lstStyle/>
          <a:p>
            <a:pPr algn="ctr"/>
            <a:r>
              <a:rPr sz="1000" b="0">
                <a:solidFill>
                  <a:srgbClr val="262B33"/>
                </a:solidFill>
                <a:latin typeface="Arial"/>
              </a:rPr>
              <a:t>{{p2: share, %}}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02952" y="3721608"/>
            <a:ext cx="1828800" cy="3657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8288" rIns="18288"/>
          <a:lstStyle/>
          <a:p>
            <a:pPr algn="ctr"/>
            <a:r>
              <a:rPr sz="1000" b="0">
                <a:solidFill>
                  <a:srgbClr val="262B33"/>
                </a:solidFill>
                <a:latin typeface="Arial"/>
              </a:rPr>
              <a:t>{{t2: share, %}}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087368"/>
            <a:ext cx="5788152" cy="3657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{{s3: step, what people did}}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45352" y="4087368"/>
            <a:ext cx="1828800" cy="3657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8288" rIns="18288"/>
          <a:lstStyle/>
          <a:p>
            <a:pPr algn="ctr"/>
            <a:r>
              <a:rPr sz="1000" b="0">
                <a:solidFill>
                  <a:srgbClr val="262B33"/>
                </a:solidFill>
                <a:latin typeface="Arial"/>
              </a:rPr>
              <a:t>{{n3: number of people}}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74152" y="4087368"/>
            <a:ext cx="1828800" cy="3657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8288" rIns="18288"/>
          <a:lstStyle/>
          <a:p>
            <a:pPr algn="ctr"/>
            <a:r>
              <a:rPr sz="1000" b="0">
                <a:solidFill>
                  <a:srgbClr val="262B33"/>
                </a:solidFill>
                <a:latin typeface="Arial"/>
              </a:rPr>
              <a:t>{{p3: share, %}}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902952" y="4087368"/>
            <a:ext cx="1828800" cy="3657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8288" rIns="18288"/>
          <a:lstStyle/>
          <a:p>
            <a:pPr algn="ctr"/>
            <a:r>
              <a:rPr sz="1000" b="0">
                <a:solidFill>
                  <a:srgbClr val="262B33"/>
                </a:solidFill>
                <a:latin typeface="Arial"/>
              </a:rPr>
              <a:t>{{t3: share, %}}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453128"/>
            <a:ext cx="5788152" cy="3657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{{s4: step, what people did}}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45352" y="4453128"/>
            <a:ext cx="1828800" cy="3657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8288" rIns="18288"/>
          <a:lstStyle/>
          <a:p>
            <a:pPr algn="ctr"/>
            <a:r>
              <a:rPr sz="1000" b="0">
                <a:solidFill>
                  <a:srgbClr val="262B33"/>
                </a:solidFill>
                <a:latin typeface="Arial"/>
              </a:rPr>
              <a:t>{{n4: number of people}}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74152" y="4453128"/>
            <a:ext cx="1828800" cy="3657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8288" rIns="18288"/>
          <a:lstStyle/>
          <a:p>
            <a:pPr algn="ctr"/>
            <a:r>
              <a:rPr sz="1000" b="0">
                <a:solidFill>
                  <a:srgbClr val="262B33"/>
                </a:solidFill>
                <a:latin typeface="Arial"/>
              </a:rPr>
              <a:t>{{p4: share, %}}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02952" y="4453128"/>
            <a:ext cx="1828800" cy="3657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8288" rIns="18288"/>
          <a:lstStyle/>
          <a:p>
            <a:pPr algn="ctr"/>
            <a:r>
              <a:rPr sz="1000" b="0">
                <a:solidFill>
                  <a:srgbClr val="262B33"/>
                </a:solidFill>
                <a:latin typeface="Arial"/>
              </a:rPr>
              <a:t>{{t4: share, %}}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937760"/>
            <a:ext cx="3657600" cy="310896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Threshold and volume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248656"/>
            <a:ext cx="3657600" cy="137160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{{threshold: conversion threshold and visitor count}}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65676" y="4937760"/>
            <a:ext cx="3657600" cy="310896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What the reaction showed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65676" y="5248656"/>
            <a:ext cx="3657600" cy="137160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{{result: figures by step and what we learned}}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74152" y="4937760"/>
            <a:ext cx="3657600" cy="310896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74152" y="5248656"/>
            <a:ext cx="3657600" cy="1371600"/>
          </a:xfrm>
          <a:prstGeom prst="rect">
            <a:avLst/>
          </a:prstGeom>
          <a:solidFill>
            <a:srgbClr val="E8F5E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{{decision: next step: build, change or stop}}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