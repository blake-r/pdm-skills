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USE CASE · 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system and user goal}}</a:t>
            </a:r>
          </a:p>
        </p:txBody>
      </p:sp>
      <p:sp>
        <p:nvSpPr>
          <p:cNvPr id="4" name="Oval 3"/>
          <p:cNvSpPr/>
          <p:nvPr/>
        </p:nvSpPr>
        <p:spPr>
          <a:xfrm>
            <a:off x="1078992" y="237744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80160" y="2779776"/>
            <a:ext cx="0" cy="694944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399" y="3017520"/>
            <a:ext cx="73152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05839" y="3474720"/>
            <a:ext cx="274321" cy="41148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80160" y="3474720"/>
            <a:ext cx="274320" cy="41148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5759" y="3950208"/>
            <a:ext cx="1828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{{actor: primary actor: a role}}</a:t>
            </a:r>
          </a:p>
        </p:txBody>
      </p:sp>
      <p:sp>
        <p:nvSpPr>
          <p:cNvPr id="10" name="Oval 9"/>
          <p:cNvSpPr/>
          <p:nvPr/>
        </p:nvSpPr>
        <p:spPr>
          <a:xfrm>
            <a:off x="10680192" y="237744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881360" y="2779776"/>
            <a:ext cx="0" cy="694944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15600" y="3017520"/>
            <a:ext cx="73152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607040" y="3474720"/>
            <a:ext cx="274320" cy="41148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881360" y="3474720"/>
            <a:ext cx="274320" cy="41148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966960" y="3950208"/>
            <a:ext cx="1828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{{actor2: external system or second actor}}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234440"/>
            <a:ext cx="6766560" cy="4892040"/>
          </a:xfrm>
          <a:prstGeom prst="rect">
            <a:avLst/>
          </a:prstGeom>
          <a:noFill/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1280160"/>
            <a:ext cx="65836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{{system: system boundary: what we build}}</a:t>
            </a:r>
          </a:p>
        </p:txBody>
      </p:sp>
      <p:sp>
        <p:nvSpPr>
          <p:cNvPr id="18" name="Oval 17"/>
          <p:cNvSpPr/>
          <p:nvPr/>
        </p:nvSpPr>
        <p:spPr>
          <a:xfrm>
            <a:off x="3063240" y="1645920"/>
            <a:ext cx="2743200" cy="868680"/>
          </a:xfrm>
          <a:prstGeom prst="ellipse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{{uc1: main use case: verb and object}}</a:t>
            </a:r>
          </a:p>
        </p:txBody>
      </p:sp>
      <p:sp>
        <p:nvSpPr>
          <p:cNvPr id="19" name="Oval 18"/>
          <p:cNvSpPr/>
          <p:nvPr/>
        </p:nvSpPr>
        <p:spPr>
          <a:xfrm>
            <a:off x="3063240" y="3108960"/>
            <a:ext cx="2743200" cy="868680"/>
          </a:xfrm>
          <a:prstGeom prst="ellipse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{{uc2: use case}}</a:t>
            </a:r>
          </a:p>
        </p:txBody>
      </p:sp>
      <p:sp>
        <p:nvSpPr>
          <p:cNvPr id="20" name="Oval 19"/>
          <p:cNvSpPr/>
          <p:nvPr/>
        </p:nvSpPr>
        <p:spPr>
          <a:xfrm>
            <a:off x="3063240" y="4572000"/>
            <a:ext cx="2743200" cy="868680"/>
          </a:xfrm>
          <a:prstGeom prst="ellipse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{{uc3: use case}}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1645920"/>
            <a:ext cx="274320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{{uc4: extension: runs under a condition}}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3108960"/>
            <a:ext cx="274320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{{uc5: shared step that is always included}}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691640" y="2080260"/>
            <a:ext cx="1371600" cy="93726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91640" y="3017520"/>
            <a:ext cx="1371600" cy="52578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91640" y="3017520"/>
            <a:ext cx="1371600" cy="198882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189720" y="3017520"/>
            <a:ext cx="1280160" cy="52578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806440" y="2080260"/>
            <a:ext cx="640080" cy="0"/>
          </a:xfrm>
          <a:prstGeom prst="line">
            <a:avLst/>
          </a:prstGeom>
          <a:ln w="15875">
            <a:solidFill>
              <a:srgbClr val="6B72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623560" y="1737360"/>
            <a:ext cx="1005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«extend»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06440" y="3543300"/>
            <a:ext cx="640080" cy="0"/>
          </a:xfrm>
          <a:prstGeom prst="line">
            <a:avLst/>
          </a:prstGeom>
          <a:ln w="15875">
            <a:solidFill>
              <a:srgbClr val="6B72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623560" y="3200400"/>
            <a:ext cx="1005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«include»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572000"/>
            <a:ext cx="292608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"include" — the step always runs inside the use case; the arrow points to the included one.
"extend" — behaviour added under a condition; the arrow points to the extended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USE CASE · SCENARIO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system and user goal}}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93192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16152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Use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931920" cy="3657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{{name: verb + object: what the actor does}}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65376"/>
            <a:ext cx="3931920" cy="6858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92807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Goal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39696"/>
            <a:ext cx="39319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{{goal: what the primary actor wants to achieve}}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87752"/>
            <a:ext cx="1929384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615184"/>
            <a:ext cx="1837943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62072"/>
            <a:ext cx="1929384" cy="3657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{{scope: which system is described}}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736" y="2587752"/>
            <a:ext cx="1929384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05456" y="2615184"/>
            <a:ext cx="1837943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9736" y="2862072"/>
            <a:ext cx="1929384" cy="3657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{{level: user, subfunction, strategic}}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64408"/>
            <a:ext cx="3931920" cy="548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Primary actor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38728"/>
            <a:ext cx="3931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{{primary: role that starts the scenario}}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9624"/>
            <a:ext cx="3931920" cy="6858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77056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Preconditions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23944"/>
            <a:ext cx="39319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{{pre: what is already true before the start}}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3931920" cy="5943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99432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Trigger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39319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{{trigger: event that starts the scenario}}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02936"/>
            <a:ext cx="393192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230368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Success guarantee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77256"/>
            <a:ext cx="3931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{{success: what is true after successful completion}}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71032"/>
            <a:ext cx="3931920" cy="5943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998464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Minimal guarantee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45352"/>
            <a:ext cx="39319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{{minimal: what is true in any outcome}}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188720"/>
            <a:ext cx="7159752" cy="288036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1216152"/>
            <a:ext cx="706831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Main success scenario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463040"/>
            <a:ext cx="7159752" cy="2606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{{main: steps in order: who does what, the actor or the system}}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160520"/>
            <a:ext cx="7159752" cy="241401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4187952"/>
            <a:ext cx="706831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Extensions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434840"/>
            <a:ext cx="7159752" cy="2139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{{ext: step and letter: condition and result}}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