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SERVICE BLUEPRINT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service, scenario and customer; current or future state}}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60020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130551" y="1143000"/>
            <a:ext cx="1549908" cy="38404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{{s1: step name}}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3735324" y="1143000"/>
            <a:ext cx="1549908" cy="38404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{{s2: step name}}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5340096" y="1143000"/>
            <a:ext cx="1549908" cy="38404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{{s3: step name}}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4868" y="1143000"/>
            <a:ext cx="1549908" cy="38404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{{s4: step name}}</a:t>
            </a:r>
          </a:p>
        </p:txBody>
      </p:sp>
      <p:sp>
        <p:nvSpPr>
          <p:cNvPr id="9" name="Rectangle 8"/>
          <p:cNvSpPr/>
          <p:nvPr/>
        </p:nvSpPr>
        <p:spPr>
          <a:xfrm>
            <a:off x="8549640" y="1143000"/>
            <a:ext cx="1549908" cy="38404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{{s5: step name}}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54411" y="1143000"/>
            <a:ext cx="1549908" cy="38404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{{s6: step name}}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1600200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30551" y="1600200"/>
            <a:ext cx="15499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{{e1: what the customer sees and holds}}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35324" y="1600200"/>
            <a:ext cx="15499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{{e2: what the customer sees and holds}}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0096" y="1600200"/>
            <a:ext cx="15499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{{e3: what the customer sees and holds}}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4868" y="1600200"/>
            <a:ext cx="15499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{{e4: what the customer sees and holds}}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1600200"/>
            <a:ext cx="15499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{{e5: what the customer sees and holds}}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54411" y="1600200"/>
            <a:ext cx="15499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{{e6: what the customer sees and holds}}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386584"/>
            <a:ext cx="1600200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Customer actions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30551" y="2386584"/>
            <a:ext cx="1549908" cy="713232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{{c1: what the customer does}}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35324" y="2386584"/>
            <a:ext cx="1549908" cy="713232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{{c2: what the customer does}}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0096" y="2386584"/>
            <a:ext cx="1549908" cy="713232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{{c3: what the customer does}}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4868" y="2386584"/>
            <a:ext cx="1549908" cy="713232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{{c4: what the customer does}}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386584"/>
            <a:ext cx="1549908" cy="713232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{{c5: what the customer does}}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54411" y="2386584"/>
            <a:ext cx="1549908" cy="713232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{{c6: what the customer does}}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37560"/>
            <a:ext cx="1600200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Frontstage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30551" y="3337560"/>
            <a:ext cx="15499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{{f1: what visible staff and systems do}}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35324" y="3337560"/>
            <a:ext cx="15499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{{f2: what visible staff and systems do}}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40096" y="3337560"/>
            <a:ext cx="15499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{{f3: what visible staff and systems do}}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4868" y="3337560"/>
            <a:ext cx="15499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{{f4: what visible staff and systems do}}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3337560"/>
            <a:ext cx="15499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{{f5: what visible staff and systems do}}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54411" y="3337560"/>
            <a:ext cx="15499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{{f6: what visible staff and systems do}}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288536"/>
            <a:ext cx="1600200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Backstage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30551" y="4288536"/>
            <a:ext cx="15499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{{b1: what hidden staff do, and who owns it}}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35324" y="4288536"/>
            <a:ext cx="15499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{{b2: what hidden staff do, and who owns it}}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40096" y="4288536"/>
            <a:ext cx="15499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{{b3: what hidden staff do, and who owns it}}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4868" y="4288536"/>
            <a:ext cx="15499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{{b4: what hidden staff do, and who owns it}}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49640" y="4288536"/>
            <a:ext cx="15499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{{b5: what hidden staff do, and who owns it}}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54411" y="4288536"/>
            <a:ext cx="15499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{{b6: what hidden staff do, and who owns it}}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239512"/>
            <a:ext cx="1600200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Support processes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30551" y="5239512"/>
            <a:ext cx="15499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{{p1: systems, data, other departments, partners}}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35324" y="5239512"/>
            <a:ext cx="15499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{{p2: systems, data, other departments, partners}}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40096" y="5239512"/>
            <a:ext cx="15499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{{p3: systems, data, other departments, partners}}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4868" y="5239512"/>
            <a:ext cx="15499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{{p4: systems, data, other departments, partners}}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49640" y="5239512"/>
            <a:ext cx="15499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{{p5: systems, data, other departments, partners}}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54411" y="5239512"/>
            <a:ext cx="15499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{{p6: systems, data, other departments, partners}}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025896"/>
            <a:ext cx="1600200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C63D3D"/>
                </a:solidFill>
                <a:latin typeface="Arial"/>
              </a:rPr>
              <a:t>Failures and time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30551" y="6025896"/>
            <a:ext cx="1549908" cy="713232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{{x1: where it breaks, how long, metric}}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35324" y="6025896"/>
            <a:ext cx="1549908" cy="713232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{{x2: where it breaks, how long, metric}}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40096" y="6025896"/>
            <a:ext cx="1549908" cy="713232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{{x3: where it breaks, how long, metric}}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44868" y="6025896"/>
            <a:ext cx="1549908" cy="713232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{{x4: where it breaks, how long, metric}}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49640" y="6025896"/>
            <a:ext cx="1549908" cy="713232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{{x5: where it breaks, how long, metric}}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54411" y="6025896"/>
            <a:ext cx="1549908" cy="713232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{{x6: where it breaks, how long, metric}}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57200" y="3218687"/>
            <a:ext cx="11274552" cy="0"/>
          </a:xfrm>
          <a:prstGeom prst="line">
            <a:avLst/>
          </a:prstGeom>
          <a:ln w="15875">
            <a:solidFill>
              <a:srgbClr val="2F6FD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457200" y="3227831"/>
            <a:ext cx="27432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bIns="0"/>
          <a:lstStyle/>
          <a:p>
            <a:pPr algn="l"/>
            <a:r>
              <a:rPr sz="800" b="0">
                <a:solidFill>
                  <a:srgbClr val="2F6FDE"/>
                </a:solidFill>
                <a:latin typeface="Arial"/>
              </a:rPr>
              <a:t>line of interaction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57200" y="4169663"/>
            <a:ext cx="11274552" cy="0"/>
          </a:xfrm>
          <a:prstGeom prst="line">
            <a:avLst/>
          </a:prstGeom>
          <a:ln w="15875">
            <a:solidFill>
              <a:srgbClr val="2F6FD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457200" y="4178807"/>
            <a:ext cx="27432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bIns="0"/>
          <a:lstStyle/>
          <a:p>
            <a:pPr algn="l"/>
            <a:r>
              <a:rPr sz="800" b="0">
                <a:solidFill>
                  <a:srgbClr val="2F6FDE"/>
                </a:solidFill>
                <a:latin typeface="Arial"/>
              </a:rPr>
              <a:t>line of visibility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57200" y="5120640"/>
            <a:ext cx="11274552" cy="0"/>
          </a:xfrm>
          <a:prstGeom prst="line">
            <a:avLst/>
          </a:prstGeom>
          <a:ln w="15875">
            <a:solidFill>
              <a:srgbClr val="2F6FD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457200" y="5129783"/>
            <a:ext cx="27432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bIns="0"/>
          <a:lstStyle/>
          <a:p>
            <a:pPr algn="l"/>
            <a:r>
              <a:rPr sz="800" b="0">
                <a:solidFill>
                  <a:srgbClr val="2F6FDE"/>
                </a:solidFill>
                <a:latin typeface="Arial"/>
              </a:rPr>
              <a:t>line of internal interaction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