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ENTITIES ANALYSIS · ENTITY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subject area and why we build the model}}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26280" y="3246120"/>
            <a:ext cx="3108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26280" y="3246120"/>
            <a:ext cx="3108960" cy="384048"/>
          </a:xfrm>
          <a:prstGeom prst="rect">
            <a:avLst/>
          </a:prstGeom>
          <a:solidFill>
            <a:srgbClr val="E8F0FC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262B33"/>
                </a:solidFill>
                <a:latin typeface="Arial"/>
              </a:rPr>
              <a:t>{{e1: main noun}}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3630168"/>
            <a:ext cx="3108960" cy="9418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{{a1: attributes}}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234440"/>
            <a:ext cx="3108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234440"/>
            <a:ext cx="310896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262B33"/>
                </a:solidFill>
                <a:latin typeface="Arial"/>
              </a:rPr>
              <a:t>{{e2: noun}}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618488"/>
            <a:ext cx="3108960" cy="9418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{{a2: attributes}}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246120"/>
            <a:ext cx="274320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262B33"/>
                </a:solidFill>
                <a:latin typeface="Arial"/>
              </a:rPr>
              <a:t>{{e3: noun}}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30168"/>
            <a:ext cx="2743200" cy="9418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{{a3: attributes}}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5257800"/>
            <a:ext cx="3108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5257800"/>
            <a:ext cx="310896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262B33"/>
                </a:solidFill>
                <a:latin typeface="Arial"/>
              </a:rPr>
              <a:t>{{e4: noun}}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5641848"/>
            <a:ext cx="3108960" cy="9418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{{a4: attributes}}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578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257800"/>
            <a:ext cx="274320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262B33"/>
                </a:solidFill>
                <a:latin typeface="Arial"/>
              </a:rPr>
              <a:t>{{e5: noun}}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641848"/>
            <a:ext cx="2743200" cy="9418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{{a5: attributes}}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2344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234440"/>
            <a:ext cx="274320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262B33"/>
                </a:solidFill>
                <a:latin typeface="Arial"/>
              </a:rPr>
              <a:t>{{e6: noun}}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618488"/>
            <a:ext cx="2743200" cy="9418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{{a6: attributes}}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24612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3246120"/>
            <a:ext cx="274320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262B33"/>
                </a:solidFill>
                <a:latin typeface="Arial"/>
              </a:rPr>
              <a:t>{{e7: noun}}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3630168"/>
            <a:ext cx="2743200" cy="9418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{{a7: attributes}}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2560320"/>
            <a:ext cx="0" cy="68580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126480" y="2569463"/>
            <a:ext cx="9144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{{m1a}}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980944"/>
            <a:ext cx="9144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{{m1b}}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2761488"/>
            <a:ext cx="14813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{{r1}}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4572000"/>
            <a:ext cx="0" cy="68580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126480" y="4581144"/>
            <a:ext cx="9144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{{m3a}}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992624"/>
            <a:ext cx="9144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{{m3b}}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80" y="4773168"/>
            <a:ext cx="14813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{{r3}}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108960" y="3909059"/>
            <a:ext cx="1417320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136391" y="3634739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{{m2a}}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21608" y="3634739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{{m2b}}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63240" y="3936491"/>
            <a:ext cx="15087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{{r2}}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635240" y="3909059"/>
            <a:ext cx="1417320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662671" y="3634739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{{m5a}}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47888" y="3634739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{{m5b}}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19" y="3936491"/>
            <a:ext cx="15087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{{r5}}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108960" y="5920740"/>
            <a:ext cx="1417320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136391" y="5646420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{{m6a}}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21608" y="5646420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{{m6b}}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5948172"/>
            <a:ext cx="15087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{{r6}}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7360919" y="2560320"/>
            <a:ext cx="2057401" cy="68580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9464040" y="2578608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{{m4a}}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59" y="2971800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{{m4b}}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26679" y="2103120"/>
            <a:ext cx="12801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 lIns="18288" rIns="18288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{{r4}}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1234440"/>
            <a:ext cx="2743200" cy="13258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" y="1261872"/>
            <a:ext cx="25603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F6FDE"/>
                </a:solidFill>
                <a:latin typeface="Arial"/>
              </a:rPr>
              <a:t>UML notation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75488" y="1618488"/>
            <a:ext cx="576072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207008" y="1508760"/>
            <a:ext cx="188366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Association: objects are linked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75488" y="1810512"/>
            <a:ext cx="576072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/>
          <p:cNvSpPr/>
          <p:nvPr/>
        </p:nvSpPr>
        <p:spPr>
          <a:xfrm rot="5400000">
            <a:off x="1005840" y="1728216"/>
            <a:ext cx="164592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07008" y="1700784"/>
            <a:ext cx="188366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Generalisation: "is a kind of"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75488" y="2002536"/>
            <a:ext cx="576072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Diamond 56"/>
          <p:cNvSpPr/>
          <p:nvPr/>
        </p:nvSpPr>
        <p:spPr>
          <a:xfrm>
            <a:off x="969264" y="1929384"/>
            <a:ext cx="219456" cy="146304"/>
          </a:xfrm>
          <a:prstGeom prst="diamond">
            <a:avLst/>
          </a:prstGeom>
          <a:solidFill>
            <a:srgbClr val="262B33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07008" y="1892808"/>
            <a:ext cx="188366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Composition: part of a whole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75488" y="2194560"/>
            <a:ext cx="576072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Diamond 59"/>
          <p:cNvSpPr/>
          <p:nvPr/>
        </p:nvSpPr>
        <p:spPr>
          <a:xfrm>
            <a:off x="969264" y="2121408"/>
            <a:ext cx="219456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07008" y="2084832"/>
            <a:ext cx="188366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Aggregation: clarify the meaning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912" y="2267712"/>
            <a:ext cx="26060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8288" rIns="18288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Multiplicity: 1 · 0..1 · 0..* · 1..*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52560" y="5257800"/>
            <a:ext cx="2743200" cy="132588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125712" y="5285232"/>
            <a:ext cx="259689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F6FDE"/>
                </a:solidFill>
                <a:latin typeface="Arial"/>
              </a:rPr>
              <a:t>Rules and decisions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52560" y="5532120"/>
            <a:ext cx="274320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{{rules: business rules and decisions behind the model}}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