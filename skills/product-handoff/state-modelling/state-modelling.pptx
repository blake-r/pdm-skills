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STATE MODELLING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entity and system}}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532120" cy="73152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2064" y="1115568"/>
            <a:ext cx="542239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Entity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426464"/>
            <a:ext cx="54223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{{entity: object and its lifecycle}}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1097280"/>
            <a:ext cx="5532120" cy="73152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54496" y="1115568"/>
            <a:ext cx="542239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What the model describes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54496" y="1426464"/>
            <a:ext cx="542239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{{scope: events changing states, and exclusions}}</a:t>
            </a:r>
          </a:p>
        </p:txBody>
      </p:sp>
      <p:sp>
        <p:nvSpPr>
          <p:cNvPr id="10" name="initial"/>
          <p:cNvSpPr/>
          <p:nvPr/>
        </p:nvSpPr>
        <p:spPr>
          <a:xfrm>
            <a:off x="320040" y="2560320"/>
            <a:ext cx="274320" cy="274320"/>
          </a:xfrm>
          <a:prstGeom prst="ellipse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331720"/>
            <a:ext cx="128016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800" b="0">
                <a:solidFill>
                  <a:srgbClr val="262B33"/>
                </a:solidFill>
                <a:latin typeface="Arial"/>
              </a:rPr>
              <a:t>{{s1: state name and meaning}}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2331720"/>
            <a:ext cx="128016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800" b="0">
                <a:solidFill>
                  <a:srgbClr val="262B33"/>
                </a:solidFill>
                <a:latin typeface="Arial"/>
              </a:rPr>
              <a:t>{{s2: state name and meaning}}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2331720"/>
            <a:ext cx="128016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800" b="0">
                <a:solidFill>
                  <a:srgbClr val="262B33"/>
                </a:solidFill>
                <a:latin typeface="Arial"/>
              </a:rPr>
              <a:t>{{s3: state name and meaning}}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2331720"/>
            <a:ext cx="128016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800" b="0">
                <a:solidFill>
                  <a:srgbClr val="262B33"/>
                </a:solidFill>
                <a:latin typeface="Arial"/>
              </a:rPr>
              <a:t>{{s4: state name and meaning}}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2331720"/>
            <a:ext cx="128016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800" b="0">
                <a:solidFill>
                  <a:srgbClr val="262B33"/>
                </a:solidFill>
                <a:latin typeface="Arial"/>
              </a:rPr>
              <a:t>{{s5: state name and meaning}}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2331720"/>
            <a:ext cx="128016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800" b="0">
                <a:solidFill>
                  <a:srgbClr val="262B33"/>
                </a:solidFill>
                <a:latin typeface="Arial"/>
              </a:rPr>
              <a:t>{{s6: state name and meaning}}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0" y="2331720"/>
            <a:ext cx="1280160" cy="7315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800" b="0">
                <a:solidFill>
                  <a:srgbClr val="262B33"/>
                </a:solidFill>
                <a:latin typeface="Arial"/>
              </a:rPr>
              <a:t>{{e1: final success state}}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68880" y="3840480"/>
            <a:ext cx="128016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800" b="0">
                <a:solidFill>
                  <a:srgbClr val="262B33"/>
                </a:solidFill>
                <a:latin typeface="Arial"/>
              </a:rPr>
              <a:t>{{s7: state name and meaning}}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3840480"/>
            <a:ext cx="1280160" cy="7315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62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800" b="0">
                <a:solidFill>
                  <a:srgbClr val="262B33"/>
                </a:solidFill>
                <a:latin typeface="Arial"/>
              </a:rPr>
              <a:t>{{e2: final failure state}}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4360" y="2697479"/>
            <a:ext cx="320040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194560" y="2697479"/>
            <a:ext cx="274320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749039" y="2697479"/>
            <a:ext cx="274321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303520" y="2697479"/>
            <a:ext cx="274320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2697479"/>
            <a:ext cx="274320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412480" y="2697479"/>
            <a:ext cx="274320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966960" y="2697479"/>
            <a:ext cx="274320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43200" y="3063239"/>
            <a:ext cx="0" cy="777241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474720" y="3063239"/>
            <a:ext cx="0" cy="777241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749039" y="4206240"/>
            <a:ext cx="3383281" cy="0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749039" y="3063239"/>
            <a:ext cx="3383281" cy="914401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663440" y="3063239"/>
            <a:ext cx="2926080" cy="777241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8229600" y="3063239"/>
            <a:ext cx="731520" cy="777241"/>
          </a:xfrm>
          <a:prstGeom prst="line">
            <a:avLst/>
          </a:prstGeom>
          <a:ln w="19050">
            <a:solidFill>
              <a:srgbClr val="6B72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82880" y="1801368"/>
            <a:ext cx="9144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tIns="54864" bIns="54864"/>
          <a:lstStyle/>
          <a:p>
            <a:pPr algn="ctr"/>
            <a:r>
              <a:rPr sz="800" b="0">
                <a:solidFill>
                  <a:srgbClr val="6B7280"/>
                </a:solidFill>
                <a:latin typeface="Arial"/>
              </a:rPr>
              <a:t>{{start: initial event}}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83079" y="1801368"/>
            <a:ext cx="10972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tIns="54864" bIns="54864"/>
          <a:lstStyle/>
          <a:p>
            <a:pPr algn="ctr"/>
            <a:r>
              <a:rPr sz="800" b="0">
                <a:solidFill>
                  <a:srgbClr val="6B7280"/>
                </a:solidFill>
                <a:latin typeface="Arial"/>
              </a:rPr>
              <a:t>{{t1: event and condition}}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37560" y="1801368"/>
            <a:ext cx="10972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tIns="54864" bIns="54864"/>
          <a:lstStyle/>
          <a:p>
            <a:pPr algn="ctr"/>
            <a:r>
              <a:rPr sz="800" b="0">
                <a:solidFill>
                  <a:srgbClr val="6B7280"/>
                </a:solidFill>
                <a:latin typeface="Arial"/>
              </a:rPr>
              <a:t>{{t2: event and condition}}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92040" y="1801368"/>
            <a:ext cx="10972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tIns="54864" bIns="54864"/>
          <a:lstStyle/>
          <a:p>
            <a:pPr algn="ctr"/>
            <a:r>
              <a:rPr sz="800" b="0">
                <a:solidFill>
                  <a:srgbClr val="6B7280"/>
                </a:solidFill>
                <a:latin typeface="Arial"/>
              </a:rPr>
              <a:t>{{t3: event and condition}}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1801368"/>
            <a:ext cx="10972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tIns="54864" bIns="54864"/>
          <a:lstStyle/>
          <a:p>
            <a:pPr algn="ctr"/>
            <a:r>
              <a:rPr sz="800" b="0">
                <a:solidFill>
                  <a:srgbClr val="6B7280"/>
                </a:solidFill>
                <a:latin typeface="Arial"/>
              </a:rPr>
              <a:t>{{t4: event and condition}}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01000" y="1801368"/>
            <a:ext cx="10972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tIns="54864" bIns="54864"/>
          <a:lstStyle/>
          <a:p>
            <a:pPr algn="ctr"/>
            <a:r>
              <a:rPr sz="800" b="0">
                <a:solidFill>
                  <a:srgbClr val="6B7280"/>
                </a:solidFill>
                <a:latin typeface="Arial"/>
              </a:rPr>
              <a:t>{{t5: event and condition}}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55480" y="1801368"/>
            <a:ext cx="10972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tIns="54864" bIns="54864"/>
          <a:lstStyle/>
          <a:p>
            <a:pPr algn="ctr"/>
            <a:r>
              <a:rPr sz="800" b="0">
                <a:solidFill>
                  <a:srgbClr val="6B7280"/>
                </a:solidFill>
                <a:latin typeface="Arial"/>
              </a:rPr>
              <a:t>{{t6: event and condition}}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" y="3200400"/>
            <a:ext cx="178308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r"/>
            <a:r>
              <a:rPr sz="800" b="0">
                <a:solidFill>
                  <a:srgbClr val="6B7280"/>
                </a:solidFill>
                <a:latin typeface="Arial"/>
              </a:rPr>
              <a:t>{{t7: event and condition}}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11680" y="4572000"/>
            <a:ext cx="2743200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800" b="0">
                <a:solidFill>
                  <a:srgbClr val="6B7280"/>
                </a:solidFill>
                <a:latin typeface="Arial"/>
              </a:rPr>
              <a:t>{{t8: return transition event and condition}}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23359" y="3886200"/>
            <a:ext cx="21945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tIns="54864" bIns="54864"/>
          <a:lstStyle/>
          <a:p>
            <a:pPr algn="ctr"/>
            <a:r>
              <a:rPr sz="800" b="0">
                <a:solidFill>
                  <a:srgbClr val="6B7280"/>
                </a:solidFill>
                <a:latin typeface="Arial"/>
              </a:rPr>
              <a:t>{{t9: event and condition}}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3081527"/>
            <a:ext cx="2514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{{tc: cancel event and source states}}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983480"/>
            <a:ext cx="4297680" cy="123444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12064" y="5001768"/>
            <a:ext cx="418795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C63D3D"/>
                </a:solidFill>
                <a:latin typeface="Arial"/>
              </a:rPr>
              <a:t>Forbidden transitions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" y="5312664"/>
            <a:ext cx="418795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{{forbidden: {{forbidden: forbidden transition lines}}}}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92040" y="4983480"/>
            <a:ext cx="3429000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46903" y="5001768"/>
            <a:ext cx="3319272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6B7280"/>
                </a:solidFill>
                <a:latin typeface="Arial"/>
              </a:rPr>
              <a:t>Assumptions and what is not shown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46903" y="5312664"/>
            <a:ext cx="3319272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{{gaps: {{gaps: missing states and transitions}}}}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58200" y="4983480"/>
            <a:ext cx="3273552" cy="1234440"/>
          </a:xfrm>
          <a:prstGeom prst="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513064" y="5001768"/>
            <a:ext cx="3163824" cy="3108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E8B57"/>
                </a:solidFill>
                <a:latin typeface="Arial"/>
              </a:rPr>
              <a:t>Decision on the model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13064" y="5312664"/>
            <a:ext cx="3163824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{{decision: {{decision: agreed states, rules and reasons}}}}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6263640"/>
            <a:ext cx="1127455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Legend: black circle = start; rounded frame = state; thick frame = final; arrow (→) = transition, label "event [condition] / action".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