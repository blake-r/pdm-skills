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frequency_adoption_analysis_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frequency_adoption_analysis_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frequency_adoption_analysis_Microsoft_Excel_Sheet1.xlsx"/></Relationships>
</file>

<file path=ppt/charts/frequency_adoption_analysis_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Adoption boundary</c:v>
                </c:pt>
              </c:strCache>
            </c:strRef>
          </c:tx>
          <c:spPr>
            <a:ln w="15875">
              <a:solidFill>
                <a:srgbClr val="6B7280"/>
              </a:solidFill>
            </a:ln>
          </c:spPr>
          <c:marker>
            <c:symbol val="none"/>
          </c:marker>
          <c:xVal>
            <c:numRef>
              <c:f>Sheet1!$A$2:$A$3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20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Sheet1!$B$5</c:f>
              <c:strCache>
                <c:ptCount val="1"/>
                <c:pt idx="0">
                  <c:v>Frequency boundary</c:v>
                </c:pt>
              </c:strCache>
            </c:strRef>
          </c:tx>
          <c:spPr>
            <a:ln w="15875">
              <a:solidFill>
                <a:srgbClr val="6B7280"/>
              </a:solidFill>
            </a:ln>
          </c:spPr>
          <c:marker>
            <c:symbol val="none"/>
          </c:marker>
          <c:xVal>
            <c:numRef>
              <c:f>Sheet1!$A$6:$A$7</c:f>
              <c:numCache>
                <c:formatCode>General</c:formatCode>
                <c:ptCount val="2"/>
                <c:pt idx="0">
                  <c:v>0</c:v>
                </c:pt>
                <c:pt idx="1">
                  <c:v>100</c:v>
                </c:pt>
              </c:numCache>
            </c:numRef>
          </c:xVal>
          <c:yVal>
            <c:numRef>
              <c:f>Sheet1!$B$6:$B$7</c:f>
              <c:numCache>
                <c:formatCode>General</c:formatCode>
                <c:ptCount val="2"/>
                <c:pt idx="0">
                  <c:v>10</c:v>
                </c:pt>
                <c:pt idx="1">
                  <c:v>10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Sheet1!$B$9</c:f>
              <c:strCache>
                <c:ptCount val="1"/>
                <c:pt idx="0">
                  <c:v>Special · decide</c:v>
                </c:pt>
              </c:strCache>
            </c:strRef>
          </c:tx>
          <c:spPr>
            <a:ln w="47625">
              <a:noFill/>
            </a:ln>
          </c:spPr>
          <c:marker>
            <c:symbol val="none"/>
          </c:marker>
          <c:dLbls>
            <c:txPr>
              <a:bodyPr/>
              <a:lstStyle/>
              <a:p>
                <a:pPr>
                  <a:defRPr sz="1200" b="1">
                    <a:solidFill>
                      <a:srgbClr val="6B728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Sheet1!$A$10:$A$10</c:f>
              <c:numCache>
                <c:formatCode>General</c:formatCode>
                <c:ptCount val="1"/>
                <c:pt idx="0">
                  <c:v>25</c:v>
                </c:pt>
              </c:numCache>
            </c:numRef>
          </c:xVal>
          <c:yVal>
            <c:numRef>
              <c:f>Sheet1!$B$10:$B$10</c:f>
              <c:numCache>
                <c:formatCode>General</c:formatCode>
                <c:ptCount val="1"/>
                <c:pt idx="0">
                  <c:v>19.2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Sheet1!$B$12</c:f>
              <c:strCache>
                <c:ptCount val="1"/>
                <c:pt idx="0">
                  <c:v>Core · develop</c:v>
                </c:pt>
              </c:strCache>
            </c:strRef>
          </c:tx>
          <c:spPr>
            <a:ln w="47625">
              <a:noFill/>
            </a:ln>
          </c:spPr>
          <c:marker>
            <c:symbol val="none"/>
          </c:marker>
          <c:dLbls>
            <c:txPr>
              <a:bodyPr/>
              <a:lstStyle/>
              <a:p>
                <a:pPr>
                  <a:defRPr sz="1200" b="1">
                    <a:solidFill>
                      <a:srgbClr val="2E8B57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Sheet1!$A$13:$A$13</c:f>
              <c:numCache>
                <c:formatCode>General</c:formatCode>
                <c:ptCount val="1"/>
                <c:pt idx="0">
                  <c:v>75</c:v>
                </c:pt>
              </c:numCache>
            </c:numRef>
          </c:xVal>
          <c:yVal>
            <c:numRef>
              <c:f>Sheet1!$B$13:$B$13</c:f>
              <c:numCache>
                <c:formatCode>General</c:formatCode>
                <c:ptCount val="1"/>
                <c:pt idx="0">
                  <c:v>19.2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Sheet1!$B$15</c:f>
              <c:strCache>
                <c:ptCount val="1"/>
                <c:pt idx="0">
                  <c:v>Unneeded · drop</c:v>
                </c:pt>
              </c:strCache>
            </c:strRef>
          </c:tx>
          <c:spPr>
            <a:ln w="47625">
              <a:noFill/>
            </a:ln>
          </c:spPr>
          <c:marker>
            <c:symbol val="none"/>
          </c:marker>
          <c:dLbls>
            <c:txPr>
              <a:bodyPr/>
              <a:lstStyle/>
              <a:p>
                <a:pPr>
                  <a:defRPr sz="1200" b="1">
                    <a:solidFill>
                      <a:srgbClr val="C63D3D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Sheet1!$A$16:$A$16</c:f>
              <c:numCache>
                <c:formatCode>General</c:formatCode>
                <c:ptCount val="1"/>
                <c:pt idx="0">
                  <c:v>25</c:v>
                </c:pt>
              </c:numCache>
            </c:numRef>
          </c:xVal>
          <c:yVal>
            <c:numRef>
              <c:f>Sheet1!$B$16:$B$16</c:f>
              <c:numCache>
                <c:formatCode>General</c:formatCode>
                <c:ptCount val="1"/>
                <c:pt idx="0">
                  <c:v>0.8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Sheet1!$B$18</c:f>
              <c:strCache>
                <c:ptCount val="1"/>
                <c:pt idx="0">
                  <c:v>Utility · automate</c:v>
                </c:pt>
              </c:strCache>
            </c:strRef>
          </c:tx>
          <c:spPr>
            <a:ln w="47625">
              <a:noFill/>
            </a:ln>
          </c:spPr>
          <c:marker>
            <c:symbol val="none"/>
          </c:marker>
          <c:dLbls>
            <c:txPr>
              <a:bodyPr/>
              <a:lstStyle/>
              <a:p>
                <a:pPr>
                  <a:defRPr sz="1200" b="1">
                    <a:solidFill>
                      <a:srgbClr val="6B728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Sheet1!$A$19:$A$19</c:f>
              <c:numCache>
                <c:formatCode>General</c:formatCode>
                <c:ptCount val="1"/>
                <c:pt idx="0">
                  <c:v>75</c:v>
                </c:pt>
              </c:numCache>
            </c:numRef>
          </c:xVal>
          <c:yVal>
            <c:numRef>
              <c:f>Sheet1!$B$19:$B$19</c:f>
              <c:numCache>
                <c:formatCode>General</c:formatCode>
                <c:ptCount val="1"/>
                <c:pt idx="0">
                  <c:v>0.8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Sheet1!$B$21</c:f>
              <c:strCache>
                <c:ptCount val="1"/>
                <c:pt idx="0">
                  <c:v>{{feature: feature name}}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1"/>
            <c:spPr>
              <a:solidFill>
                <a:srgbClr val="2F6FDE"/>
              </a:solidFill>
              <a:ln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 sz="1100" b="0">
                    <a:solidFill>
                      <a:srgbClr val="262B3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Sheet1!$A$22:$A$22</c:f>
              <c:numCache>
                <c:formatCode>General</c:formatCode>
                <c:ptCount val="1"/>
                <c:pt idx="0">
                  <c:v>50</c:v>
                </c:pt>
              </c:numCache>
            </c:numRef>
          </c:xVal>
          <c:yVal>
            <c:numRef>
              <c:f>Sheet1!$B$22:$B$22</c:f>
              <c:numCache>
                <c:formatCode>General</c:formatCode>
                <c:ptCount val="1"/>
                <c:pt idx="0">
                  <c:v>10</c:v>
                </c:pt>
              </c:numCache>
            </c:numRef>
          </c:yVal>
          <c:smooth val="0"/>
        </c:ser>
        <c:axId val="510000"/>
        <c:axId val="510001"/>
      </c:scatterChart>
      <c:valAx>
        <c:axId val="510000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B7280"/>
                    </a:solidFill>
                    <a:latin typeface="Arial"/>
                  </a:rPr>
                  <a:t>Adoption: % of active customers →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510001"/>
        <c:crosses val="autoZero"/>
        <c:crossBetween val="midCat"/>
        <c:majorUnit val="25.0"/>
      </c:valAx>
      <c:valAx>
        <c:axId val="510001"/>
        <c:scaling>
          <c:orientation val="minMax"/>
          <c:max val="20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B7280"/>
                    </a:solidFill>
                    <a:latin typeface="Arial"/>
                  </a:rPr>
                  <a:t>Frequency: uses per customer who adopted the feature per period →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510000"/>
        <c:crosses val="autoZero"/>
        <c:crossBetween val="midCat"/>
        <c:majorUnit val="5.0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262B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frequency_adoption_analysis_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FREQUENCY / ADOPTION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product, period and base of active customers}}</a:t>
            </a:r>
          </a:p>
        </p:txBody>
      </p:sp>
      <p:graphicFrame>
        <p:nvGraphicFramePr>
          <p:cNvPr id="4" name="features"/>
          <p:cNvGraphicFramePr>
            <a:graphicFrameLocks noGrp="1"/>
          </p:cNvGraphicFramePr>
          <p:nvPr/>
        </p:nvGraphicFramePr>
        <p:xfrm>
          <a:off x="365760" y="1188720"/>
          <a:ext cx="786384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8458200" y="118872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How it was counted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458200" y="1508760"/>
            <a:ext cx="3291840" cy="12801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{{method: base, period and what counts as use}}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88036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Decisions by zone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8458200" y="3200400"/>
            <a:ext cx="3291840" cy="16916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{{decision: what we develop, engage, automate or remove}}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8200" y="498348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Check before deciding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5303520"/>
            <a:ext cx="3291840" cy="12801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{{checks: critical, hard-to-find and replaced features}}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