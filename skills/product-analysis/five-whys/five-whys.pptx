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11247120" cy="320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200" b="1">
                <a:solidFill>
                  <a:srgbClr val="2F6FDE"/>
                </a:solidFill>
                <a:latin typeface="Arial"/>
              </a:rPr>
              <a:t>5 WHYS · FIVE WHYS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548640"/>
            <a:ext cx="11247120" cy="5029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2200" b="1">
                <a:solidFill>
                  <a:srgbClr val="262B33"/>
                </a:solidFill>
                <a:latin typeface="Arial"/>
              </a:rPr>
              <a:t>{{title: what is analysed, event, date, scale}}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1280160" cy="658368"/>
          </a:xfrm>
          <a:prstGeom prst="rect">
            <a:avLst/>
          </a:prstGeom>
          <a:solidFill>
            <a:srgbClr val="262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/>
            <a:r>
              <a:rPr sz="1100" b="1">
                <a:solidFill>
                  <a:srgbClr val="FFFFFF"/>
                </a:solidFill>
                <a:latin typeface="Arial"/>
              </a:rPr>
              <a:t>Problem</a:t>
            </a:r>
          </a:p>
        </p:txBody>
      </p:sp>
      <p:sp>
        <p:nvSpPr>
          <p:cNvPr id="5" name="Rectangle 4"/>
          <p:cNvSpPr/>
          <p:nvPr/>
        </p:nvSpPr>
        <p:spPr>
          <a:xfrm>
            <a:off x="1737360" y="1188720"/>
            <a:ext cx="6035040" cy="658368"/>
          </a:xfrm>
          <a:prstGeom prst="rect">
            <a:avLst/>
          </a:prstGeom>
          <a:noFill/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/>
            <a:r>
              <a:rPr sz="1200" b="0">
                <a:solidFill>
                  <a:srgbClr val="262B33"/>
                </a:solidFill>
                <a:latin typeface="Arial"/>
              </a:rPr>
              <a:t>{{problem: observed problem, with date and figures}}</a:t>
            </a:r>
          </a:p>
        </p:txBody>
      </p:sp>
      <p:sp>
        <p:nvSpPr>
          <p:cNvPr id="6" name="Down Arrow 5"/>
          <p:cNvSpPr/>
          <p:nvPr/>
        </p:nvSpPr>
        <p:spPr>
          <a:xfrm>
            <a:off x="960120" y="1874519"/>
            <a:ext cx="274320" cy="246888"/>
          </a:xfrm>
          <a:prstGeom prst="downArrow">
            <a:avLst/>
          </a:prstGeom>
          <a:solidFill>
            <a:srgbClr val="C9CE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280160" y="1837944"/>
            <a:ext cx="1097280" cy="30175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/>
            <a:r>
              <a:rPr sz="1000" b="0">
                <a:solidFill>
                  <a:srgbClr val="6B7280"/>
                </a:solidFill>
                <a:latin typeface="Arial"/>
              </a:rPr>
              <a:t>why?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148840"/>
            <a:ext cx="1280160" cy="658368"/>
          </a:xfrm>
          <a:prstGeom prst="rect">
            <a:avLst/>
          </a:prstGeom>
          <a:solidFill>
            <a:srgbClr val="E8F0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/>
            <a:r>
              <a:rPr sz="1100" b="1">
                <a:solidFill>
                  <a:srgbClr val="2F6FDE"/>
                </a:solidFill>
                <a:latin typeface="Arial"/>
              </a:rPr>
              <a:t>Why 1</a:t>
            </a:r>
          </a:p>
        </p:txBody>
      </p:sp>
      <p:sp>
        <p:nvSpPr>
          <p:cNvPr id="9" name="Rectangle 8"/>
          <p:cNvSpPr/>
          <p:nvPr/>
        </p:nvSpPr>
        <p:spPr>
          <a:xfrm>
            <a:off x="1737360" y="2148840"/>
            <a:ext cx="6035040" cy="658368"/>
          </a:xfrm>
          <a:prstGeom prst="rect">
            <a:avLst/>
          </a:prstGeom>
          <a:noFill/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/>
            <a:r>
              <a:rPr sz="1200" b="0">
                <a:solidFill>
                  <a:srgbClr val="262B33"/>
                </a:solidFill>
                <a:latin typeface="Arial"/>
              </a:rPr>
              <a:t>{{why_1: cause of the problem}}</a:t>
            </a:r>
          </a:p>
        </p:txBody>
      </p:sp>
      <p:sp>
        <p:nvSpPr>
          <p:cNvPr id="10" name="Down Arrow 9"/>
          <p:cNvSpPr/>
          <p:nvPr/>
        </p:nvSpPr>
        <p:spPr>
          <a:xfrm>
            <a:off x="960120" y="2834640"/>
            <a:ext cx="274320" cy="246888"/>
          </a:xfrm>
          <a:prstGeom prst="downArrow">
            <a:avLst/>
          </a:prstGeom>
          <a:solidFill>
            <a:srgbClr val="C9CE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280160" y="2798064"/>
            <a:ext cx="1097280" cy="30175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/>
            <a:r>
              <a:rPr sz="1000" b="0">
                <a:solidFill>
                  <a:srgbClr val="6B7280"/>
                </a:solidFill>
                <a:latin typeface="Arial"/>
              </a:rPr>
              <a:t>why?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108960"/>
            <a:ext cx="1280160" cy="658368"/>
          </a:xfrm>
          <a:prstGeom prst="rect">
            <a:avLst/>
          </a:prstGeom>
          <a:solidFill>
            <a:srgbClr val="E8F0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/>
            <a:r>
              <a:rPr sz="1100" b="1">
                <a:solidFill>
                  <a:srgbClr val="2F6FDE"/>
                </a:solidFill>
                <a:latin typeface="Arial"/>
              </a:rPr>
              <a:t>Why 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737360" y="3108960"/>
            <a:ext cx="6035040" cy="658368"/>
          </a:xfrm>
          <a:prstGeom prst="rect">
            <a:avLst/>
          </a:prstGeom>
          <a:noFill/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/>
            <a:r>
              <a:rPr sz="1200" b="0">
                <a:solidFill>
                  <a:srgbClr val="262B33"/>
                </a:solidFill>
                <a:latin typeface="Arial"/>
              </a:rPr>
              <a:t>{{why_2: cause of why 1}}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960120" y="3794760"/>
            <a:ext cx="274320" cy="246888"/>
          </a:xfrm>
          <a:prstGeom prst="downArrow">
            <a:avLst/>
          </a:prstGeom>
          <a:solidFill>
            <a:srgbClr val="C9CE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280160" y="3758184"/>
            <a:ext cx="1097280" cy="30175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/>
            <a:r>
              <a:rPr sz="1000" b="0">
                <a:solidFill>
                  <a:srgbClr val="6B7280"/>
                </a:solidFill>
                <a:latin typeface="Arial"/>
              </a:rPr>
              <a:t>why?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4069080"/>
            <a:ext cx="1280160" cy="658368"/>
          </a:xfrm>
          <a:prstGeom prst="rect">
            <a:avLst/>
          </a:prstGeom>
          <a:solidFill>
            <a:srgbClr val="E8F0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/>
            <a:r>
              <a:rPr sz="1100" b="1">
                <a:solidFill>
                  <a:srgbClr val="2F6FDE"/>
                </a:solidFill>
                <a:latin typeface="Arial"/>
              </a:rPr>
              <a:t>Why 3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737360" y="4069080"/>
            <a:ext cx="6035040" cy="658368"/>
          </a:xfrm>
          <a:prstGeom prst="rect">
            <a:avLst/>
          </a:prstGeom>
          <a:noFill/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/>
            <a:r>
              <a:rPr sz="1200" b="0">
                <a:solidFill>
                  <a:srgbClr val="262B33"/>
                </a:solidFill>
                <a:latin typeface="Arial"/>
              </a:rPr>
              <a:t>{{why_3: cause of why 2}}</a:t>
            </a:r>
          </a:p>
        </p:txBody>
      </p:sp>
      <p:grpSp>
        <p:nvGrpSpPr>
          <p:cNvPr id="18" name="optional_level_4"/>
          <p:cNvGrpSpPr/>
          <p:nvPr/>
        </p:nvGrpSpPr>
        <p:grpSpPr>
          <a:xfrm>
            <a:off x="457200" y="4718304"/>
            <a:ext cx="7315200" cy="969264"/>
            <a:chOff x="457200" y="4718304"/>
            <a:chExt cx="7315200" cy="969264"/>
          </a:xfrm>
        </p:grpSpPr>
        <p:sp>
          <p:nvSpPr>
            <p:cNvPr id="19" name="Down Arrow 18"/>
            <p:cNvSpPr/>
            <p:nvPr/>
          </p:nvSpPr>
          <p:spPr>
            <a:xfrm>
              <a:off x="960120" y="4754880"/>
              <a:ext cx="274320" cy="246888"/>
            </a:xfrm>
            <a:prstGeom prst="downArrow">
              <a:avLst/>
            </a:prstGeom>
            <a:solidFill>
              <a:srgbClr val="C9CE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" name="Rectangle 19"/>
            <p:cNvSpPr/>
            <p:nvPr/>
          </p:nvSpPr>
          <p:spPr>
            <a:xfrm>
              <a:off x="1280160" y="4718304"/>
              <a:ext cx="1097280" cy="301752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tIns="54864" bIns="54864"/>
            <a:lstStyle/>
            <a:p>
              <a:pPr algn="l"/>
              <a:r>
                <a:rPr sz="1000" b="0">
                  <a:solidFill>
                    <a:srgbClr val="6B7280"/>
                  </a:solidFill>
                  <a:latin typeface="Arial"/>
                </a:rPr>
                <a:t>why?</a:t>
              </a:r>
            </a:p>
          </p:txBody>
        </p:sp>
        <p:sp>
          <p:nvSpPr>
            <p:cNvPr id="21" name="Rectangle 20"/>
            <p:cNvSpPr/>
            <p:nvPr/>
          </p:nvSpPr>
          <p:spPr>
            <a:xfrm>
              <a:off x="457200" y="5029200"/>
              <a:ext cx="1280160" cy="658368"/>
            </a:xfrm>
            <a:prstGeom prst="rect">
              <a:avLst/>
            </a:prstGeom>
            <a:solidFill>
              <a:srgbClr val="E8F0F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tIns="54864" bIns="54864"/>
            <a:lstStyle/>
            <a:p>
              <a:pPr algn="l"/>
              <a:r>
                <a:rPr sz="1100" b="1">
                  <a:solidFill>
                    <a:srgbClr val="2F6FDE"/>
                  </a:solidFill>
                  <a:latin typeface="Arial"/>
                </a:rPr>
                <a:t>Why 4</a:t>
              </a:r>
            </a:p>
          </p:txBody>
        </p:sp>
        <p:sp>
          <p:nvSpPr>
            <p:cNvPr id="22" name="Rectangle 21"/>
            <p:cNvSpPr/>
            <p:nvPr/>
          </p:nvSpPr>
          <p:spPr>
            <a:xfrm>
              <a:off x="1737360" y="5029200"/>
              <a:ext cx="6035040" cy="658368"/>
            </a:xfrm>
            <a:prstGeom prst="rect">
              <a:avLst/>
            </a:prstGeom>
            <a:noFill/>
            <a:ln w="12700">
              <a:solidFill>
                <a:srgbClr val="C9CE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tIns="54864" bIns="54864"/>
            <a:lstStyle/>
            <a:p>
              <a:pPr algn="l"/>
              <a:r>
                <a:rPr sz="1200" b="0">
                  <a:solidFill>
                    <a:srgbClr val="262B33"/>
                  </a:solidFill>
                  <a:latin typeface="Arial"/>
                </a:rPr>
                <a:t>{{why_4: cause of why 3}}</a:t>
              </a:r>
            </a:p>
          </p:txBody>
        </p:sp>
      </p:grpSp>
      <p:grpSp>
        <p:nvGrpSpPr>
          <p:cNvPr id="23" name="optional_level_5"/>
          <p:cNvGrpSpPr/>
          <p:nvPr/>
        </p:nvGrpSpPr>
        <p:grpSpPr>
          <a:xfrm>
            <a:off x="457200" y="5678424"/>
            <a:ext cx="7315200" cy="969264"/>
            <a:chOff x="457200" y="5678424"/>
            <a:chExt cx="7315200" cy="969264"/>
          </a:xfrm>
        </p:grpSpPr>
        <p:sp>
          <p:nvSpPr>
            <p:cNvPr id="24" name="Down Arrow 23"/>
            <p:cNvSpPr/>
            <p:nvPr/>
          </p:nvSpPr>
          <p:spPr>
            <a:xfrm>
              <a:off x="960120" y="5715000"/>
              <a:ext cx="274320" cy="246888"/>
            </a:xfrm>
            <a:prstGeom prst="downArrow">
              <a:avLst/>
            </a:prstGeom>
            <a:solidFill>
              <a:srgbClr val="C9CE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" name="Rectangle 24"/>
            <p:cNvSpPr/>
            <p:nvPr/>
          </p:nvSpPr>
          <p:spPr>
            <a:xfrm>
              <a:off x="1280160" y="5678424"/>
              <a:ext cx="1097280" cy="301752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tIns="54864" bIns="54864"/>
            <a:lstStyle/>
            <a:p>
              <a:pPr algn="l"/>
              <a:r>
                <a:rPr sz="1000" b="0">
                  <a:solidFill>
                    <a:srgbClr val="6B7280"/>
                  </a:solidFill>
                  <a:latin typeface="Arial"/>
                </a:rPr>
                <a:t>why?</a:t>
              </a:r>
            </a:p>
          </p:txBody>
        </p:sp>
        <p:sp>
          <p:nvSpPr>
            <p:cNvPr id="26" name="Rectangle 25"/>
            <p:cNvSpPr/>
            <p:nvPr/>
          </p:nvSpPr>
          <p:spPr>
            <a:xfrm>
              <a:off x="457200" y="5989320"/>
              <a:ext cx="1280160" cy="658368"/>
            </a:xfrm>
            <a:prstGeom prst="rect">
              <a:avLst/>
            </a:prstGeom>
            <a:solidFill>
              <a:srgbClr val="E8F0F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tIns="54864" bIns="54864"/>
            <a:lstStyle/>
            <a:p>
              <a:pPr algn="l"/>
              <a:r>
                <a:rPr sz="1100" b="1">
                  <a:solidFill>
                    <a:srgbClr val="2F6FDE"/>
                  </a:solidFill>
                  <a:latin typeface="Arial"/>
                </a:rPr>
                <a:t>Why 5</a:t>
              </a:r>
            </a:p>
          </p:txBody>
        </p:sp>
        <p:sp>
          <p:nvSpPr>
            <p:cNvPr id="27" name="Rectangle 26"/>
            <p:cNvSpPr/>
            <p:nvPr/>
          </p:nvSpPr>
          <p:spPr>
            <a:xfrm>
              <a:off x="1737360" y="5989320"/>
              <a:ext cx="6035040" cy="658368"/>
            </a:xfrm>
            <a:prstGeom prst="rect">
              <a:avLst/>
            </a:prstGeom>
            <a:noFill/>
            <a:ln w="12700">
              <a:solidFill>
                <a:srgbClr val="C9CE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tIns="54864" bIns="54864"/>
            <a:lstStyle/>
            <a:p>
              <a:pPr algn="l"/>
              <a:r>
                <a:rPr sz="1200" b="0">
                  <a:solidFill>
                    <a:srgbClr val="262B33"/>
                  </a:solidFill>
                  <a:latin typeface="Arial"/>
                </a:rPr>
                <a:t>{{why_5: cause of why 4}}</a:t>
              </a:r>
            </a:p>
          </p:txBody>
        </p:sp>
      </p:grpSp>
      <p:sp>
        <p:nvSpPr>
          <p:cNvPr id="28" name="Rectangle 27"/>
          <p:cNvSpPr/>
          <p:nvPr/>
        </p:nvSpPr>
        <p:spPr>
          <a:xfrm>
            <a:off x="8183879" y="1188720"/>
            <a:ext cx="3566160" cy="320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200" b="1">
                <a:solidFill>
                  <a:srgbClr val="2F6FDE"/>
                </a:solidFill>
                <a:latin typeface="Arial"/>
              </a:rPr>
              <a:t>Root cause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183879" y="1508760"/>
            <a:ext cx="3566160" cy="1234440"/>
          </a:xfrm>
          <a:prstGeom prst="rect">
            <a:avLst/>
          </a:prstGeom>
          <a:solidFill>
            <a:srgbClr val="E8F0FC"/>
          </a:solidFill>
          <a:ln w="12700">
            <a:solidFill>
              <a:srgbClr val="2F6F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200" b="0">
                <a:solidFill>
                  <a:srgbClr val="262B33"/>
                </a:solidFill>
                <a:latin typeface="Arial"/>
              </a:rPr>
              <a:t>{{root_cause: process or condition that can change}}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183879" y="2880360"/>
            <a:ext cx="3566160" cy="320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200" b="1">
                <a:solidFill>
                  <a:srgbClr val="262B33"/>
                </a:solidFill>
                <a:latin typeface="Arial"/>
              </a:rPr>
              <a:t>Countermeasure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183879" y="3200400"/>
            <a:ext cx="3566160" cy="1417319"/>
          </a:xfrm>
          <a:prstGeom prst="rect">
            <a:avLst/>
          </a:prstGeom>
          <a:noFill/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200" b="0">
                <a:solidFill>
                  <a:srgbClr val="262B33"/>
                </a:solidFill>
                <a:latin typeface="Arial"/>
              </a:rPr>
              <a:t>{{countermeasure: what we change, owner and date}}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183879" y="4754880"/>
            <a:ext cx="3566160" cy="320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200" b="1">
                <a:solidFill>
                  <a:srgbClr val="262B33"/>
                </a:solidFill>
                <a:latin typeface="Arial"/>
              </a:rPr>
              <a:t>How we will check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183879" y="5074920"/>
            <a:ext cx="3566160" cy="1371600"/>
          </a:xfrm>
          <a:prstGeom prst="rect">
            <a:avLst/>
          </a:prstGeom>
          <a:noFill/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200" b="0">
                <a:solidFill>
                  <a:srgbClr val="262B33"/>
                </a:solidFill>
                <a:latin typeface="Arial"/>
              </a:rPr>
              <a:t>{{check: metric showing the problem is gone}}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