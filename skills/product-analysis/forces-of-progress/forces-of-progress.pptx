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FORCES OF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which switch and its data source}}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51206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7373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300" b="1">
                <a:solidFill>
                  <a:srgbClr val="2F6FDE"/>
                </a:solidFill>
                <a:latin typeface="Arial"/>
              </a:rPr>
              <a:t>Current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1737360" cy="4389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0">
                <a:solidFill>
                  <a:srgbClr val="262B33"/>
                </a:solidFill>
                <a:latin typeface="Arial"/>
              </a:rPr>
              <a:t>{{current: what the customer uses now}}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280160"/>
            <a:ext cx="1828800" cy="51206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59" y="1371600"/>
            <a:ext cx="17373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300" b="1">
                <a:solidFill>
                  <a:srgbClr val="2F6FDE"/>
                </a:solidFill>
                <a:latin typeface="Arial"/>
              </a:rPr>
              <a:t>New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59" y="1920240"/>
            <a:ext cx="1737360" cy="4389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0">
                <a:solidFill>
                  <a:srgbClr val="262B33"/>
                </a:solidFill>
                <a:latin typeface="Arial"/>
              </a:rPr>
              <a:t>{{new: what the customer switches to}}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280160"/>
            <a:ext cx="1920240" cy="2194560"/>
          </a:xfrm>
          <a:prstGeom prst="rect">
            <a:avLst/>
          </a:prstGeom>
          <a:noFill/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96312" y="1335024"/>
            <a:ext cx="17830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E8B57"/>
                </a:solidFill>
                <a:latin typeface="Arial"/>
              </a:rPr>
              <a:t>→ Push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96312" y="1691639"/>
            <a:ext cx="178308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{{push: unsatisfying factors, with shares}}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280160"/>
            <a:ext cx="1920240" cy="2194560"/>
          </a:xfrm>
          <a:prstGeom prst="rect">
            <a:avLst/>
          </a:prstGeom>
          <a:noFill/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7992" y="1335024"/>
            <a:ext cx="17830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E8B57"/>
                </a:solidFill>
                <a:latin typeface="Arial"/>
              </a:rPr>
              <a:t>→ Pull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7992" y="1691639"/>
            <a:ext cx="178308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{{pull: what the new solution promises, with shares}}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4206240"/>
            <a:ext cx="1920240" cy="2194560"/>
          </a:xfrm>
          <a:prstGeom prst="rect">
            <a:avLst/>
          </a:prstGeom>
          <a:noFill/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96312" y="4261103"/>
            <a:ext cx="17830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C63D3D"/>
                </a:solidFill>
                <a:latin typeface="Arial"/>
              </a:rPr>
              <a:t>← Habit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96312" y="4617720"/>
            <a:ext cx="178308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{{habit: what holds them, with shares}}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4206240"/>
            <a:ext cx="1920240" cy="2194560"/>
          </a:xfrm>
          <a:prstGeom prst="rect">
            <a:avLst/>
          </a:prstGeom>
          <a:noFill/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07992" y="4261103"/>
            <a:ext cx="17830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C63D3D"/>
                </a:solidFill>
                <a:latin typeface="Arial"/>
              </a:rPr>
              <a:t>← Anxiety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7992" y="4617720"/>
            <a:ext cx="178308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{{anxiety: what they fear, with shares}}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423160" y="3584448"/>
            <a:ext cx="3931920" cy="512064"/>
          </a:xfrm>
          <a:prstGeom prst="rightArrow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62B33"/>
                </a:solidFill>
                <a:latin typeface="Arial"/>
              </a:rPr>
              <a:t>Switch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280160"/>
            <a:ext cx="3246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Balance of forces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1600200"/>
            <a:ext cx="3246120" cy="1874519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Arial"/>
              </a:rPr>
              <a:t>{{balance: which forces outweigh, and switch data}}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3657600"/>
            <a:ext cx="3246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What we move and how we check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977639"/>
            <a:ext cx="3246120" cy="24231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Arial"/>
              </a:rPr>
              <a:t>{{decision: which force we change and how we check}}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